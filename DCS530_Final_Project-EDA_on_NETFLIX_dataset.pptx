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sldIdLst>
    <p:sldId id="257" r:id="rId5"/>
    <p:sldId id="264" r:id="rId6"/>
    <p:sldId id="262" r:id="rId7"/>
    <p:sldId id="263" r:id="rId8"/>
    <p:sldId id="265" r:id="rId9"/>
    <p:sldId id="283" r:id="rId10"/>
    <p:sldId id="266" r:id="rId11"/>
    <p:sldId id="267" r:id="rId12"/>
    <p:sldId id="268" r:id="rId13"/>
    <p:sldId id="269" r:id="rId14"/>
    <p:sldId id="270" r:id="rId15"/>
    <p:sldId id="271" r:id="rId16"/>
    <p:sldId id="272" r:id="rId17"/>
    <p:sldId id="273" r:id="rId18"/>
    <p:sldId id="274" r:id="rId19"/>
    <p:sldId id="275" r:id="rId20"/>
    <p:sldId id="278" r:id="rId21"/>
    <p:sldId id="276" r:id="rId22"/>
    <p:sldId id="277" r:id="rId23"/>
    <p:sldId id="279" r:id="rId24"/>
    <p:sldId id="280" r:id="rId25"/>
    <p:sldId id="282"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529"/>
    <a:srgbClr val="2B3922"/>
    <a:srgbClr val="2E3722"/>
    <a:srgbClr val="FCF7F1"/>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2.xml.rels><?xml version="1.0" encoding="UTF-8" standalone="yes"?>
<Relationships xmlns="http://schemas.openxmlformats.org/package/2006/relationships"><Relationship Id="rId1" Type="http://schemas.openxmlformats.org/officeDocument/2006/relationships/hyperlink" Target="https://flixable.com/netflix-museum/" TargetMode="External"/></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1" Type="http://schemas.openxmlformats.org/officeDocument/2006/relationships/hyperlink" Target="https://flixable.com/netflix-museum/" TargetMode="External"/></Relationships>
</file>

<file path=ppt/diagrams/colors1.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1A9CE5-B8C9-471A-B2DA-F7105C339273}" type="doc">
      <dgm:prSet loTypeId="urn:microsoft.com/office/officeart/2018/2/layout/IconCircleList" loCatId="icon" qsTypeId="urn:microsoft.com/office/officeart/2005/8/quickstyle/simple1" qsCatId="simple" csTypeId="urn:microsoft.com/office/officeart/2018/5/colors/Iconchunking_neutralbg_accent3_2" csCatId="accent3" phldr="1"/>
      <dgm:spPr/>
      <dgm:t>
        <a:bodyPr/>
        <a:lstStyle/>
        <a:p>
          <a:endParaRPr lang="en-US"/>
        </a:p>
      </dgm:t>
    </dgm:pt>
    <dgm:pt modelId="{1D1C63DD-41B7-4D8B-957F-614C6E78824B}">
      <dgm:prSet/>
      <dgm:spPr/>
      <dgm:t>
        <a:bodyPr/>
        <a:lstStyle/>
        <a:p>
          <a:r>
            <a:rPr lang="en-US" b="0" i="0"/>
            <a:t>Description of Dataset</a:t>
          </a:r>
          <a:endParaRPr lang="en-US"/>
        </a:p>
      </dgm:t>
    </dgm:pt>
    <dgm:pt modelId="{6085C283-6BE8-48CA-9CC8-522C8D8FE1B2}" type="parTrans" cxnId="{4E950B5F-C02C-48B0-8E87-7D42B3FF5A52}">
      <dgm:prSet/>
      <dgm:spPr/>
      <dgm:t>
        <a:bodyPr/>
        <a:lstStyle/>
        <a:p>
          <a:endParaRPr lang="en-US"/>
        </a:p>
      </dgm:t>
    </dgm:pt>
    <dgm:pt modelId="{DBB9E896-2026-4353-963C-81B394715BBB}" type="sibTrans" cxnId="{4E950B5F-C02C-48B0-8E87-7D42B3FF5A52}">
      <dgm:prSet/>
      <dgm:spPr/>
      <dgm:t>
        <a:bodyPr/>
        <a:lstStyle/>
        <a:p>
          <a:endParaRPr lang="en-US"/>
        </a:p>
      </dgm:t>
    </dgm:pt>
    <dgm:pt modelId="{CC7AE186-9F12-469F-942C-ADD052B40334}">
      <dgm:prSet/>
      <dgm:spPr/>
      <dgm:t>
        <a:bodyPr/>
        <a:lstStyle/>
        <a:p>
          <a:r>
            <a:rPr lang="en-US"/>
            <a:t>Business questions</a:t>
          </a:r>
        </a:p>
      </dgm:t>
    </dgm:pt>
    <dgm:pt modelId="{880B6AA3-7FCF-4B58-AB08-C866334140A4}" type="parTrans" cxnId="{B7BE1699-81DB-4464-B6A1-6B5DCA45712A}">
      <dgm:prSet/>
      <dgm:spPr/>
      <dgm:t>
        <a:bodyPr/>
        <a:lstStyle/>
        <a:p>
          <a:endParaRPr lang="en-US"/>
        </a:p>
      </dgm:t>
    </dgm:pt>
    <dgm:pt modelId="{EAF8BD9F-45AC-4F00-98D3-5C4D40D01533}" type="sibTrans" cxnId="{B7BE1699-81DB-4464-B6A1-6B5DCA45712A}">
      <dgm:prSet/>
      <dgm:spPr/>
      <dgm:t>
        <a:bodyPr/>
        <a:lstStyle/>
        <a:p>
          <a:endParaRPr lang="en-US"/>
        </a:p>
      </dgm:t>
    </dgm:pt>
    <dgm:pt modelId="{ADBABEFE-2688-4109-8B7A-58DB0F3F6A2A}">
      <dgm:prSet/>
      <dgm:spPr/>
      <dgm:t>
        <a:bodyPr/>
        <a:lstStyle/>
        <a:p>
          <a:r>
            <a:rPr lang="en-US" b="0" i="0"/>
            <a:t>Data Exploration</a:t>
          </a:r>
          <a:endParaRPr lang="en-US"/>
        </a:p>
      </dgm:t>
    </dgm:pt>
    <dgm:pt modelId="{1E279A52-5E20-41BB-AB8F-F0E4133B16DB}" type="parTrans" cxnId="{DFC4DDB9-402A-4336-8B69-0CDE0759FA79}">
      <dgm:prSet/>
      <dgm:spPr/>
      <dgm:t>
        <a:bodyPr/>
        <a:lstStyle/>
        <a:p>
          <a:endParaRPr lang="en-US"/>
        </a:p>
      </dgm:t>
    </dgm:pt>
    <dgm:pt modelId="{67C679A9-1AE1-4969-8A81-3F871A4DB0EA}" type="sibTrans" cxnId="{DFC4DDB9-402A-4336-8B69-0CDE0759FA79}">
      <dgm:prSet/>
      <dgm:spPr/>
      <dgm:t>
        <a:bodyPr/>
        <a:lstStyle/>
        <a:p>
          <a:endParaRPr lang="en-US"/>
        </a:p>
      </dgm:t>
    </dgm:pt>
    <dgm:pt modelId="{4D0FDB06-A557-40EA-80EB-7EBF8A5ABF99}">
      <dgm:prSet/>
      <dgm:spPr/>
      <dgm:t>
        <a:bodyPr/>
        <a:lstStyle/>
        <a:p>
          <a:r>
            <a:rPr lang="en-US" b="0" i="0"/>
            <a:t>Data Cleaning</a:t>
          </a:r>
          <a:endParaRPr lang="en-US"/>
        </a:p>
      </dgm:t>
    </dgm:pt>
    <dgm:pt modelId="{83534076-8AEB-4998-8301-3CAD185F8257}" type="parTrans" cxnId="{A2698A50-FDE7-4FEF-B579-E28B0B4B97FF}">
      <dgm:prSet/>
      <dgm:spPr/>
      <dgm:t>
        <a:bodyPr/>
        <a:lstStyle/>
        <a:p>
          <a:endParaRPr lang="en-US"/>
        </a:p>
      </dgm:t>
    </dgm:pt>
    <dgm:pt modelId="{5966F094-5455-4438-934E-830FA913D8F1}" type="sibTrans" cxnId="{A2698A50-FDE7-4FEF-B579-E28B0B4B97FF}">
      <dgm:prSet/>
      <dgm:spPr/>
      <dgm:t>
        <a:bodyPr/>
        <a:lstStyle/>
        <a:p>
          <a:endParaRPr lang="en-US"/>
        </a:p>
      </dgm:t>
    </dgm:pt>
    <dgm:pt modelId="{4AC90EAA-6E98-4181-A801-500762058487}">
      <dgm:prSet/>
      <dgm:spPr/>
      <dgm:t>
        <a:bodyPr/>
        <a:lstStyle/>
        <a:p>
          <a:r>
            <a:rPr lang="en-US" b="0" i="0"/>
            <a:t>Data visualization</a:t>
          </a:r>
          <a:endParaRPr lang="en-US"/>
        </a:p>
      </dgm:t>
    </dgm:pt>
    <dgm:pt modelId="{0FF10B86-A5E1-4A7F-9612-61F1500CDF67}" type="parTrans" cxnId="{9D1962A1-3141-48B1-A5B8-B1BB27067705}">
      <dgm:prSet/>
      <dgm:spPr/>
      <dgm:t>
        <a:bodyPr/>
        <a:lstStyle/>
        <a:p>
          <a:endParaRPr lang="en-US"/>
        </a:p>
      </dgm:t>
    </dgm:pt>
    <dgm:pt modelId="{BC9A6A3E-D476-401B-B3C8-C2B6723AA66E}" type="sibTrans" cxnId="{9D1962A1-3141-48B1-A5B8-B1BB27067705}">
      <dgm:prSet/>
      <dgm:spPr/>
      <dgm:t>
        <a:bodyPr/>
        <a:lstStyle/>
        <a:p>
          <a:endParaRPr lang="en-US"/>
        </a:p>
      </dgm:t>
    </dgm:pt>
    <dgm:pt modelId="{F4CCA599-144D-427A-844E-97DAE78241FD}">
      <dgm:prSet/>
      <dgm:spPr/>
      <dgm:t>
        <a:bodyPr/>
        <a:lstStyle/>
        <a:p>
          <a:r>
            <a:rPr lang="en-US" b="0" i="0"/>
            <a:t>Conclusions</a:t>
          </a:r>
          <a:endParaRPr lang="en-US"/>
        </a:p>
      </dgm:t>
    </dgm:pt>
    <dgm:pt modelId="{93E78410-BB00-439D-8225-4F13F81F58F3}" type="parTrans" cxnId="{50E2AA58-9646-49F8-97BB-030FA4E50B3A}">
      <dgm:prSet/>
      <dgm:spPr/>
      <dgm:t>
        <a:bodyPr/>
        <a:lstStyle/>
        <a:p>
          <a:endParaRPr lang="en-US"/>
        </a:p>
      </dgm:t>
    </dgm:pt>
    <dgm:pt modelId="{8C06E42A-AD27-438B-A253-479DD95D4DA1}" type="sibTrans" cxnId="{50E2AA58-9646-49F8-97BB-030FA4E50B3A}">
      <dgm:prSet/>
      <dgm:spPr/>
      <dgm:t>
        <a:bodyPr/>
        <a:lstStyle/>
        <a:p>
          <a:endParaRPr lang="en-US"/>
        </a:p>
      </dgm:t>
    </dgm:pt>
    <dgm:pt modelId="{62EAC14F-A26D-4D98-9DAD-2A32FE70DA2C}" type="pres">
      <dgm:prSet presAssocID="{B31A9CE5-B8C9-471A-B2DA-F7105C339273}" presName="root" presStyleCnt="0">
        <dgm:presLayoutVars>
          <dgm:dir/>
          <dgm:resizeHandles val="exact"/>
        </dgm:presLayoutVars>
      </dgm:prSet>
      <dgm:spPr/>
    </dgm:pt>
    <dgm:pt modelId="{5FC27538-CDE3-4C47-99CD-306E00B050C0}" type="pres">
      <dgm:prSet presAssocID="{B31A9CE5-B8C9-471A-B2DA-F7105C339273}" presName="container" presStyleCnt="0">
        <dgm:presLayoutVars>
          <dgm:dir/>
          <dgm:resizeHandles val="exact"/>
        </dgm:presLayoutVars>
      </dgm:prSet>
      <dgm:spPr/>
    </dgm:pt>
    <dgm:pt modelId="{36EC9C5F-3B77-4C32-936A-9FB5ED3FA7FE}" type="pres">
      <dgm:prSet presAssocID="{1D1C63DD-41B7-4D8B-957F-614C6E78824B}" presName="compNode" presStyleCnt="0"/>
      <dgm:spPr/>
    </dgm:pt>
    <dgm:pt modelId="{AC5BE029-6776-49AD-AEC7-B9DC582F1463}" type="pres">
      <dgm:prSet presAssocID="{1D1C63DD-41B7-4D8B-957F-614C6E78824B}" presName="iconBgRect" presStyleLbl="bgShp" presStyleIdx="0" presStyleCnt="6"/>
      <dgm:spPr/>
    </dgm:pt>
    <dgm:pt modelId="{884E8EEE-B4CC-4A7D-AE98-94E076AB3E3A}" type="pres">
      <dgm:prSet presAssocID="{1D1C63DD-41B7-4D8B-957F-614C6E78824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623D2F74-86A3-441F-A13C-12914BEFB57C}" type="pres">
      <dgm:prSet presAssocID="{1D1C63DD-41B7-4D8B-957F-614C6E78824B}" presName="spaceRect" presStyleCnt="0"/>
      <dgm:spPr/>
    </dgm:pt>
    <dgm:pt modelId="{151F5C21-9919-46B2-AB29-9969A446A17E}" type="pres">
      <dgm:prSet presAssocID="{1D1C63DD-41B7-4D8B-957F-614C6E78824B}" presName="textRect" presStyleLbl="revTx" presStyleIdx="0" presStyleCnt="6">
        <dgm:presLayoutVars>
          <dgm:chMax val="1"/>
          <dgm:chPref val="1"/>
        </dgm:presLayoutVars>
      </dgm:prSet>
      <dgm:spPr/>
    </dgm:pt>
    <dgm:pt modelId="{B8873814-F587-4BE8-B5CD-EEA9F094A233}" type="pres">
      <dgm:prSet presAssocID="{DBB9E896-2026-4353-963C-81B394715BBB}" presName="sibTrans" presStyleLbl="sibTrans2D1" presStyleIdx="0" presStyleCnt="0"/>
      <dgm:spPr/>
    </dgm:pt>
    <dgm:pt modelId="{372B103C-AABE-4054-90EC-E3B93332A6C3}" type="pres">
      <dgm:prSet presAssocID="{CC7AE186-9F12-469F-942C-ADD052B40334}" presName="compNode" presStyleCnt="0"/>
      <dgm:spPr/>
    </dgm:pt>
    <dgm:pt modelId="{410C686F-316F-42BB-8C78-F94A97B8B7C9}" type="pres">
      <dgm:prSet presAssocID="{CC7AE186-9F12-469F-942C-ADD052B40334}" presName="iconBgRect" presStyleLbl="bgShp" presStyleIdx="1" presStyleCnt="6"/>
      <dgm:spPr/>
    </dgm:pt>
    <dgm:pt modelId="{EC084789-9FCA-4F5B-8CC7-ACFA920E25CB}" type="pres">
      <dgm:prSet presAssocID="{CC7AE186-9F12-469F-942C-ADD052B4033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lp"/>
        </a:ext>
      </dgm:extLst>
    </dgm:pt>
    <dgm:pt modelId="{2C2534A7-BF90-4312-A0BC-FC8DB1593767}" type="pres">
      <dgm:prSet presAssocID="{CC7AE186-9F12-469F-942C-ADD052B40334}" presName="spaceRect" presStyleCnt="0"/>
      <dgm:spPr/>
    </dgm:pt>
    <dgm:pt modelId="{9D1A8F3F-3A79-40BA-B8D5-5AF03CD1B7B4}" type="pres">
      <dgm:prSet presAssocID="{CC7AE186-9F12-469F-942C-ADD052B40334}" presName="textRect" presStyleLbl="revTx" presStyleIdx="1" presStyleCnt="6">
        <dgm:presLayoutVars>
          <dgm:chMax val="1"/>
          <dgm:chPref val="1"/>
        </dgm:presLayoutVars>
      </dgm:prSet>
      <dgm:spPr/>
    </dgm:pt>
    <dgm:pt modelId="{BFD32D69-E201-4ECB-97A3-AA43086C18C5}" type="pres">
      <dgm:prSet presAssocID="{EAF8BD9F-45AC-4F00-98D3-5C4D40D01533}" presName="sibTrans" presStyleLbl="sibTrans2D1" presStyleIdx="0" presStyleCnt="0"/>
      <dgm:spPr/>
    </dgm:pt>
    <dgm:pt modelId="{BF21B614-EAD7-47FF-974F-EC844DABE7D5}" type="pres">
      <dgm:prSet presAssocID="{ADBABEFE-2688-4109-8B7A-58DB0F3F6A2A}" presName="compNode" presStyleCnt="0"/>
      <dgm:spPr/>
    </dgm:pt>
    <dgm:pt modelId="{3ED10A50-EC53-4432-B21D-7F864E09E985}" type="pres">
      <dgm:prSet presAssocID="{ADBABEFE-2688-4109-8B7A-58DB0F3F6A2A}" presName="iconBgRect" presStyleLbl="bgShp" presStyleIdx="2" presStyleCnt="6"/>
      <dgm:spPr/>
    </dgm:pt>
    <dgm:pt modelId="{BEE52820-5F1C-41C0-B0FE-3F6C3E044FE9}" type="pres">
      <dgm:prSet presAssocID="{ADBABEFE-2688-4109-8B7A-58DB0F3F6A2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C4B67F7E-4A58-407F-87E9-7F5F5D8CC569}" type="pres">
      <dgm:prSet presAssocID="{ADBABEFE-2688-4109-8B7A-58DB0F3F6A2A}" presName="spaceRect" presStyleCnt="0"/>
      <dgm:spPr/>
    </dgm:pt>
    <dgm:pt modelId="{000351E3-35D4-40B3-AAA7-4BD6F07F21A0}" type="pres">
      <dgm:prSet presAssocID="{ADBABEFE-2688-4109-8B7A-58DB0F3F6A2A}" presName="textRect" presStyleLbl="revTx" presStyleIdx="2" presStyleCnt="6">
        <dgm:presLayoutVars>
          <dgm:chMax val="1"/>
          <dgm:chPref val="1"/>
        </dgm:presLayoutVars>
      </dgm:prSet>
      <dgm:spPr/>
    </dgm:pt>
    <dgm:pt modelId="{9CAC5D88-1C7B-4752-A1F2-54494F37CD01}" type="pres">
      <dgm:prSet presAssocID="{67C679A9-1AE1-4969-8A81-3F871A4DB0EA}" presName="sibTrans" presStyleLbl="sibTrans2D1" presStyleIdx="0" presStyleCnt="0"/>
      <dgm:spPr/>
    </dgm:pt>
    <dgm:pt modelId="{28CC4ED6-B83A-4666-B0F3-0DA96402BA2C}" type="pres">
      <dgm:prSet presAssocID="{4D0FDB06-A557-40EA-80EB-7EBF8A5ABF99}" presName="compNode" presStyleCnt="0"/>
      <dgm:spPr/>
    </dgm:pt>
    <dgm:pt modelId="{D62765C5-9EBE-48C8-ABA0-4A2E4167914C}" type="pres">
      <dgm:prSet presAssocID="{4D0FDB06-A557-40EA-80EB-7EBF8A5ABF99}" presName="iconBgRect" presStyleLbl="bgShp" presStyleIdx="3" presStyleCnt="6"/>
      <dgm:spPr/>
    </dgm:pt>
    <dgm:pt modelId="{7A8543B8-215C-4D34-AD23-D140C7EFD8B2}" type="pres">
      <dgm:prSet presAssocID="{4D0FDB06-A557-40EA-80EB-7EBF8A5ABF9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op and bucket"/>
        </a:ext>
      </dgm:extLst>
    </dgm:pt>
    <dgm:pt modelId="{2D51C8B5-006A-4A67-B865-AC20BB3B715C}" type="pres">
      <dgm:prSet presAssocID="{4D0FDB06-A557-40EA-80EB-7EBF8A5ABF99}" presName="spaceRect" presStyleCnt="0"/>
      <dgm:spPr/>
    </dgm:pt>
    <dgm:pt modelId="{7AF18A29-9831-4481-88C8-87BDFF2C91FB}" type="pres">
      <dgm:prSet presAssocID="{4D0FDB06-A557-40EA-80EB-7EBF8A5ABF99}" presName="textRect" presStyleLbl="revTx" presStyleIdx="3" presStyleCnt="6">
        <dgm:presLayoutVars>
          <dgm:chMax val="1"/>
          <dgm:chPref val="1"/>
        </dgm:presLayoutVars>
      </dgm:prSet>
      <dgm:spPr/>
    </dgm:pt>
    <dgm:pt modelId="{E84F812B-332F-4110-AFA4-3F3FF6315351}" type="pres">
      <dgm:prSet presAssocID="{5966F094-5455-4438-934E-830FA913D8F1}" presName="sibTrans" presStyleLbl="sibTrans2D1" presStyleIdx="0" presStyleCnt="0"/>
      <dgm:spPr/>
    </dgm:pt>
    <dgm:pt modelId="{B5DC5E18-02B2-47D6-A698-F1B271627FF2}" type="pres">
      <dgm:prSet presAssocID="{4AC90EAA-6E98-4181-A801-500762058487}" presName="compNode" presStyleCnt="0"/>
      <dgm:spPr/>
    </dgm:pt>
    <dgm:pt modelId="{E256345B-0A42-47AB-B638-3565D2DE0A42}" type="pres">
      <dgm:prSet presAssocID="{4AC90EAA-6E98-4181-A801-500762058487}" presName="iconBgRect" presStyleLbl="bgShp" presStyleIdx="4" presStyleCnt="6"/>
      <dgm:spPr/>
    </dgm:pt>
    <dgm:pt modelId="{9826E905-CFFA-475E-B683-DA1967A09146}" type="pres">
      <dgm:prSet presAssocID="{4AC90EAA-6E98-4181-A801-50076205848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pward trend"/>
        </a:ext>
      </dgm:extLst>
    </dgm:pt>
    <dgm:pt modelId="{22CB9022-439D-4A9C-912E-E04CE16BE74F}" type="pres">
      <dgm:prSet presAssocID="{4AC90EAA-6E98-4181-A801-500762058487}" presName="spaceRect" presStyleCnt="0"/>
      <dgm:spPr/>
    </dgm:pt>
    <dgm:pt modelId="{2EDF14FA-6DDC-4B62-9A45-546D61B6080F}" type="pres">
      <dgm:prSet presAssocID="{4AC90EAA-6E98-4181-A801-500762058487}" presName="textRect" presStyleLbl="revTx" presStyleIdx="4" presStyleCnt="6">
        <dgm:presLayoutVars>
          <dgm:chMax val="1"/>
          <dgm:chPref val="1"/>
        </dgm:presLayoutVars>
      </dgm:prSet>
      <dgm:spPr/>
    </dgm:pt>
    <dgm:pt modelId="{B419363E-FEFF-41EC-9EE3-0A97DD661A6F}" type="pres">
      <dgm:prSet presAssocID="{BC9A6A3E-D476-401B-B3C8-C2B6723AA66E}" presName="sibTrans" presStyleLbl="sibTrans2D1" presStyleIdx="0" presStyleCnt="0"/>
      <dgm:spPr/>
    </dgm:pt>
    <dgm:pt modelId="{7906B523-60BE-43D2-9DCB-C472F1CB7A51}" type="pres">
      <dgm:prSet presAssocID="{F4CCA599-144D-427A-844E-97DAE78241FD}" presName="compNode" presStyleCnt="0"/>
      <dgm:spPr/>
    </dgm:pt>
    <dgm:pt modelId="{18C8CA60-167A-45D7-A7E8-23ACA9EBB683}" type="pres">
      <dgm:prSet presAssocID="{F4CCA599-144D-427A-844E-97DAE78241FD}" presName="iconBgRect" presStyleLbl="bgShp" presStyleIdx="5" presStyleCnt="6"/>
      <dgm:spPr/>
    </dgm:pt>
    <dgm:pt modelId="{BE2A4AA9-4E6F-41C1-B120-F72AAB9F0EE0}" type="pres">
      <dgm:prSet presAssocID="{F4CCA599-144D-427A-844E-97DAE78241FD}"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eckmark"/>
        </a:ext>
      </dgm:extLst>
    </dgm:pt>
    <dgm:pt modelId="{EA05269D-5DD5-4A34-92E2-78468592CB3E}" type="pres">
      <dgm:prSet presAssocID="{F4CCA599-144D-427A-844E-97DAE78241FD}" presName="spaceRect" presStyleCnt="0"/>
      <dgm:spPr/>
    </dgm:pt>
    <dgm:pt modelId="{70D095B8-7CFF-42E6-9572-669397686798}" type="pres">
      <dgm:prSet presAssocID="{F4CCA599-144D-427A-844E-97DAE78241FD}" presName="textRect" presStyleLbl="revTx" presStyleIdx="5" presStyleCnt="6">
        <dgm:presLayoutVars>
          <dgm:chMax val="1"/>
          <dgm:chPref val="1"/>
        </dgm:presLayoutVars>
      </dgm:prSet>
      <dgm:spPr/>
    </dgm:pt>
  </dgm:ptLst>
  <dgm:cxnLst>
    <dgm:cxn modelId="{07247310-26BC-4F87-844B-D02565D7466C}" type="presOf" srcId="{BC9A6A3E-D476-401B-B3C8-C2B6723AA66E}" destId="{B419363E-FEFF-41EC-9EE3-0A97DD661A6F}" srcOrd="0" destOrd="0" presId="urn:microsoft.com/office/officeart/2018/2/layout/IconCircleList"/>
    <dgm:cxn modelId="{4180E422-84C2-49A4-8AEF-7D9BD83F57BE}" type="presOf" srcId="{4AC90EAA-6E98-4181-A801-500762058487}" destId="{2EDF14FA-6DDC-4B62-9A45-546D61B6080F}" srcOrd="0" destOrd="0" presId="urn:microsoft.com/office/officeart/2018/2/layout/IconCircleList"/>
    <dgm:cxn modelId="{191B3D2F-AF0A-4046-B5D3-9AFA717ACD4C}" type="presOf" srcId="{ADBABEFE-2688-4109-8B7A-58DB0F3F6A2A}" destId="{000351E3-35D4-40B3-AAA7-4BD6F07F21A0}" srcOrd="0" destOrd="0" presId="urn:microsoft.com/office/officeart/2018/2/layout/IconCircleList"/>
    <dgm:cxn modelId="{4E950B5F-C02C-48B0-8E87-7D42B3FF5A52}" srcId="{B31A9CE5-B8C9-471A-B2DA-F7105C339273}" destId="{1D1C63DD-41B7-4D8B-957F-614C6E78824B}" srcOrd="0" destOrd="0" parTransId="{6085C283-6BE8-48CA-9CC8-522C8D8FE1B2}" sibTransId="{DBB9E896-2026-4353-963C-81B394715BBB}"/>
    <dgm:cxn modelId="{8D165846-9442-4565-9063-2457FE44BEF8}" type="presOf" srcId="{4D0FDB06-A557-40EA-80EB-7EBF8A5ABF99}" destId="{7AF18A29-9831-4481-88C8-87BDFF2C91FB}" srcOrd="0" destOrd="0" presId="urn:microsoft.com/office/officeart/2018/2/layout/IconCircleList"/>
    <dgm:cxn modelId="{2E62ED66-3B76-4330-A80A-F2C4BE490FDB}" type="presOf" srcId="{5966F094-5455-4438-934E-830FA913D8F1}" destId="{E84F812B-332F-4110-AFA4-3F3FF6315351}" srcOrd="0" destOrd="0" presId="urn:microsoft.com/office/officeart/2018/2/layout/IconCircleList"/>
    <dgm:cxn modelId="{A2698A50-FDE7-4FEF-B579-E28B0B4B97FF}" srcId="{B31A9CE5-B8C9-471A-B2DA-F7105C339273}" destId="{4D0FDB06-A557-40EA-80EB-7EBF8A5ABF99}" srcOrd="3" destOrd="0" parTransId="{83534076-8AEB-4998-8301-3CAD185F8257}" sibTransId="{5966F094-5455-4438-934E-830FA913D8F1}"/>
    <dgm:cxn modelId="{50E2AA58-9646-49F8-97BB-030FA4E50B3A}" srcId="{B31A9CE5-B8C9-471A-B2DA-F7105C339273}" destId="{F4CCA599-144D-427A-844E-97DAE78241FD}" srcOrd="5" destOrd="0" parTransId="{93E78410-BB00-439D-8225-4F13F81F58F3}" sibTransId="{8C06E42A-AD27-438B-A253-479DD95D4DA1}"/>
    <dgm:cxn modelId="{31D1FE79-BADE-42B7-AF5E-91DC162CF4D7}" type="presOf" srcId="{1D1C63DD-41B7-4D8B-957F-614C6E78824B}" destId="{151F5C21-9919-46B2-AB29-9969A446A17E}" srcOrd="0" destOrd="0" presId="urn:microsoft.com/office/officeart/2018/2/layout/IconCircleList"/>
    <dgm:cxn modelId="{B7BE1699-81DB-4464-B6A1-6B5DCA45712A}" srcId="{B31A9CE5-B8C9-471A-B2DA-F7105C339273}" destId="{CC7AE186-9F12-469F-942C-ADD052B40334}" srcOrd="1" destOrd="0" parTransId="{880B6AA3-7FCF-4B58-AB08-C866334140A4}" sibTransId="{EAF8BD9F-45AC-4F00-98D3-5C4D40D01533}"/>
    <dgm:cxn modelId="{D3B05F9C-C752-4255-8711-1D04C5EEA59B}" type="presOf" srcId="{67C679A9-1AE1-4969-8A81-3F871A4DB0EA}" destId="{9CAC5D88-1C7B-4752-A1F2-54494F37CD01}" srcOrd="0" destOrd="0" presId="urn:microsoft.com/office/officeart/2018/2/layout/IconCircleList"/>
    <dgm:cxn modelId="{9D1962A1-3141-48B1-A5B8-B1BB27067705}" srcId="{B31A9CE5-B8C9-471A-B2DA-F7105C339273}" destId="{4AC90EAA-6E98-4181-A801-500762058487}" srcOrd="4" destOrd="0" parTransId="{0FF10B86-A5E1-4A7F-9612-61F1500CDF67}" sibTransId="{BC9A6A3E-D476-401B-B3C8-C2B6723AA66E}"/>
    <dgm:cxn modelId="{4CBD32B1-4637-4062-8532-E956744E2A1F}" type="presOf" srcId="{F4CCA599-144D-427A-844E-97DAE78241FD}" destId="{70D095B8-7CFF-42E6-9572-669397686798}" srcOrd="0" destOrd="0" presId="urn:microsoft.com/office/officeart/2018/2/layout/IconCircleList"/>
    <dgm:cxn modelId="{DFC4DDB9-402A-4336-8B69-0CDE0759FA79}" srcId="{B31A9CE5-B8C9-471A-B2DA-F7105C339273}" destId="{ADBABEFE-2688-4109-8B7A-58DB0F3F6A2A}" srcOrd="2" destOrd="0" parTransId="{1E279A52-5E20-41BB-AB8F-F0E4133B16DB}" sibTransId="{67C679A9-1AE1-4969-8A81-3F871A4DB0EA}"/>
    <dgm:cxn modelId="{78B72FD2-D67E-47B2-8D46-26B7FDDBC9B0}" type="presOf" srcId="{CC7AE186-9F12-469F-942C-ADD052B40334}" destId="{9D1A8F3F-3A79-40BA-B8D5-5AF03CD1B7B4}" srcOrd="0" destOrd="0" presId="urn:microsoft.com/office/officeart/2018/2/layout/IconCircleList"/>
    <dgm:cxn modelId="{87A371F1-6840-4347-8CDD-126BC5839A19}" type="presOf" srcId="{B31A9CE5-B8C9-471A-B2DA-F7105C339273}" destId="{62EAC14F-A26D-4D98-9DAD-2A32FE70DA2C}" srcOrd="0" destOrd="0" presId="urn:microsoft.com/office/officeart/2018/2/layout/IconCircleList"/>
    <dgm:cxn modelId="{BB53AAF1-0926-45A8-ACC5-4866DE0B2C69}" type="presOf" srcId="{EAF8BD9F-45AC-4F00-98D3-5C4D40D01533}" destId="{BFD32D69-E201-4ECB-97A3-AA43086C18C5}" srcOrd="0" destOrd="0" presId="urn:microsoft.com/office/officeart/2018/2/layout/IconCircleList"/>
    <dgm:cxn modelId="{8B7806F8-AF7C-47D6-94E2-D4BD5297C169}" type="presOf" srcId="{DBB9E896-2026-4353-963C-81B394715BBB}" destId="{B8873814-F587-4BE8-B5CD-EEA9F094A233}" srcOrd="0" destOrd="0" presId="urn:microsoft.com/office/officeart/2018/2/layout/IconCircleList"/>
    <dgm:cxn modelId="{56E24D49-35BA-4778-8174-103D71F64300}" type="presParOf" srcId="{62EAC14F-A26D-4D98-9DAD-2A32FE70DA2C}" destId="{5FC27538-CDE3-4C47-99CD-306E00B050C0}" srcOrd="0" destOrd="0" presId="urn:microsoft.com/office/officeart/2018/2/layout/IconCircleList"/>
    <dgm:cxn modelId="{25EDB8DA-CAC3-407C-B44A-F8B482B193AA}" type="presParOf" srcId="{5FC27538-CDE3-4C47-99CD-306E00B050C0}" destId="{36EC9C5F-3B77-4C32-936A-9FB5ED3FA7FE}" srcOrd="0" destOrd="0" presId="urn:microsoft.com/office/officeart/2018/2/layout/IconCircleList"/>
    <dgm:cxn modelId="{E8EFC678-F95D-46B9-9D62-F1263868C39E}" type="presParOf" srcId="{36EC9C5F-3B77-4C32-936A-9FB5ED3FA7FE}" destId="{AC5BE029-6776-49AD-AEC7-B9DC582F1463}" srcOrd="0" destOrd="0" presId="urn:microsoft.com/office/officeart/2018/2/layout/IconCircleList"/>
    <dgm:cxn modelId="{BE6C0E92-6048-4DC9-9B14-1991D689061C}" type="presParOf" srcId="{36EC9C5F-3B77-4C32-936A-9FB5ED3FA7FE}" destId="{884E8EEE-B4CC-4A7D-AE98-94E076AB3E3A}" srcOrd="1" destOrd="0" presId="urn:microsoft.com/office/officeart/2018/2/layout/IconCircleList"/>
    <dgm:cxn modelId="{ABEED1E9-BFE0-4801-B260-5E8380A64328}" type="presParOf" srcId="{36EC9C5F-3B77-4C32-936A-9FB5ED3FA7FE}" destId="{623D2F74-86A3-441F-A13C-12914BEFB57C}" srcOrd="2" destOrd="0" presId="urn:microsoft.com/office/officeart/2018/2/layout/IconCircleList"/>
    <dgm:cxn modelId="{36885CBF-4868-442D-9BF0-CED2C0CC9528}" type="presParOf" srcId="{36EC9C5F-3B77-4C32-936A-9FB5ED3FA7FE}" destId="{151F5C21-9919-46B2-AB29-9969A446A17E}" srcOrd="3" destOrd="0" presId="urn:microsoft.com/office/officeart/2018/2/layout/IconCircleList"/>
    <dgm:cxn modelId="{70FD8EFE-BDEC-470B-9C13-BA87DFCAAC97}" type="presParOf" srcId="{5FC27538-CDE3-4C47-99CD-306E00B050C0}" destId="{B8873814-F587-4BE8-B5CD-EEA9F094A233}" srcOrd="1" destOrd="0" presId="urn:microsoft.com/office/officeart/2018/2/layout/IconCircleList"/>
    <dgm:cxn modelId="{3F1A4838-647A-425A-BEF7-23BF1BC7F225}" type="presParOf" srcId="{5FC27538-CDE3-4C47-99CD-306E00B050C0}" destId="{372B103C-AABE-4054-90EC-E3B93332A6C3}" srcOrd="2" destOrd="0" presId="urn:microsoft.com/office/officeart/2018/2/layout/IconCircleList"/>
    <dgm:cxn modelId="{5FB08081-EC0C-4F78-951F-4084C4062A1E}" type="presParOf" srcId="{372B103C-AABE-4054-90EC-E3B93332A6C3}" destId="{410C686F-316F-42BB-8C78-F94A97B8B7C9}" srcOrd="0" destOrd="0" presId="urn:microsoft.com/office/officeart/2018/2/layout/IconCircleList"/>
    <dgm:cxn modelId="{26088609-1E7B-438A-87D7-13B24276FCCE}" type="presParOf" srcId="{372B103C-AABE-4054-90EC-E3B93332A6C3}" destId="{EC084789-9FCA-4F5B-8CC7-ACFA920E25CB}" srcOrd="1" destOrd="0" presId="urn:microsoft.com/office/officeart/2018/2/layout/IconCircleList"/>
    <dgm:cxn modelId="{E3EDEF7B-B8AA-4A88-BD41-991AAC99F2D1}" type="presParOf" srcId="{372B103C-AABE-4054-90EC-E3B93332A6C3}" destId="{2C2534A7-BF90-4312-A0BC-FC8DB1593767}" srcOrd="2" destOrd="0" presId="urn:microsoft.com/office/officeart/2018/2/layout/IconCircleList"/>
    <dgm:cxn modelId="{44220ECB-9B0F-4CEC-A186-5253EBC282F6}" type="presParOf" srcId="{372B103C-AABE-4054-90EC-E3B93332A6C3}" destId="{9D1A8F3F-3A79-40BA-B8D5-5AF03CD1B7B4}" srcOrd="3" destOrd="0" presId="urn:microsoft.com/office/officeart/2018/2/layout/IconCircleList"/>
    <dgm:cxn modelId="{9276C97F-7AB1-4310-94C1-3B7019D614BF}" type="presParOf" srcId="{5FC27538-CDE3-4C47-99CD-306E00B050C0}" destId="{BFD32D69-E201-4ECB-97A3-AA43086C18C5}" srcOrd="3" destOrd="0" presId="urn:microsoft.com/office/officeart/2018/2/layout/IconCircleList"/>
    <dgm:cxn modelId="{9EB47E54-F417-4DC3-8942-9EFDA8AF33F5}" type="presParOf" srcId="{5FC27538-CDE3-4C47-99CD-306E00B050C0}" destId="{BF21B614-EAD7-47FF-974F-EC844DABE7D5}" srcOrd="4" destOrd="0" presId="urn:microsoft.com/office/officeart/2018/2/layout/IconCircleList"/>
    <dgm:cxn modelId="{7843BEFF-82BF-4EEF-8044-EA62D762BA18}" type="presParOf" srcId="{BF21B614-EAD7-47FF-974F-EC844DABE7D5}" destId="{3ED10A50-EC53-4432-B21D-7F864E09E985}" srcOrd="0" destOrd="0" presId="urn:microsoft.com/office/officeart/2018/2/layout/IconCircleList"/>
    <dgm:cxn modelId="{1A354997-98C5-4C4F-89D6-AF30D8065C62}" type="presParOf" srcId="{BF21B614-EAD7-47FF-974F-EC844DABE7D5}" destId="{BEE52820-5F1C-41C0-B0FE-3F6C3E044FE9}" srcOrd="1" destOrd="0" presId="urn:microsoft.com/office/officeart/2018/2/layout/IconCircleList"/>
    <dgm:cxn modelId="{016845E7-D021-401C-8D14-C0DC8781B44F}" type="presParOf" srcId="{BF21B614-EAD7-47FF-974F-EC844DABE7D5}" destId="{C4B67F7E-4A58-407F-87E9-7F5F5D8CC569}" srcOrd="2" destOrd="0" presId="urn:microsoft.com/office/officeart/2018/2/layout/IconCircleList"/>
    <dgm:cxn modelId="{AC57ADFE-1C36-4CFC-BE20-A1A93E33E518}" type="presParOf" srcId="{BF21B614-EAD7-47FF-974F-EC844DABE7D5}" destId="{000351E3-35D4-40B3-AAA7-4BD6F07F21A0}" srcOrd="3" destOrd="0" presId="urn:microsoft.com/office/officeart/2018/2/layout/IconCircleList"/>
    <dgm:cxn modelId="{5FC7488D-D5B2-47DD-8A54-8B761BF0A1C9}" type="presParOf" srcId="{5FC27538-CDE3-4C47-99CD-306E00B050C0}" destId="{9CAC5D88-1C7B-4752-A1F2-54494F37CD01}" srcOrd="5" destOrd="0" presId="urn:microsoft.com/office/officeart/2018/2/layout/IconCircleList"/>
    <dgm:cxn modelId="{ECF73EC0-7C15-4454-BEFF-58F9A3F5CB3E}" type="presParOf" srcId="{5FC27538-CDE3-4C47-99CD-306E00B050C0}" destId="{28CC4ED6-B83A-4666-B0F3-0DA96402BA2C}" srcOrd="6" destOrd="0" presId="urn:microsoft.com/office/officeart/2018/2/layout/IconCircleList"/>
    <dgm:cxn modelId="{9D941627-6323-427D-B2E3-6308C5B3C41F}" type="presParOf" srcId="{28CC4ED6-B83A-4666-B0F3-0DA96402BA2C}" destId="{D62765C5-9EBE-48C8-ABA0-4A2E4167914C}" srcOrd="0" destOrd="0" presId="urn:microsoft.com/office/officeart/2018/2/layout/IconCircleList"/>
    <dgm:cxn modelId="{E3142E84-EDB2-4455-B2B2-1D5E2C4E2564}" type="presParOf" srcId="{28CC4ED6-B83A-4666-B0F3-0DA96402BA2C}" destId="{7A8543B8-215C-4D34-AD23-D140C7EFD8B2}" srcOrd="1" destOrd="0" presId="urn:microsoft.com/office/officeart/2018/2/layout/IconCircleList"/>
    <dgm:cxn modelId="{E8F8735A-EDFC-465D-932F-F761C78105B5}" type="presParOf" srcId="{28CC4ED6-B83A-4666-B0F3-0DA96402BA2C}" destId="{2D51C8B5-006A-4A67-B865-AC20BB3B715C}" srcOrd="2" destOrd="0" presId="urn:microsoft.com/office/officeart/2018/2/layout/IconCircleList"/>
    <dgm:cxn modelId="{2E502D07-F56A-4DA9-93AA-55A93DACD4F9}" type="presParOf" srcId="{28CC4ED6-B83A-4666-B0F3-0DA96402BA2C}" destId="{7AF18A29-9831-4481-88C8-87BDFF2C91FB}" srcOrd="3" destOrd="0" presId="urn:microsoft.com/office/officeart/2018/2/layout/IconCircleList"/>
    <dgm:cxn modelId="{3378C25D-A2CB-4148-85A5-94578E821203}" type="presParOf" srcId="{5FC27538-CDE3-4C47-99CD-306E00B050C0}" destId="{E84F812B-332F-4110-AFA4-3F3FF6315351}" srcOrd="7" destOrd="0" presId="urn:microsoft.com/office/officeart/2018/2/layout/IconCircleList"/>
    <dgm:cxn modelId="{3D3C1762-E6E4-4951-A2AF-9004760347EC}" type="presParOf" srcId="{5FC27538-CDE3-4C47-99CD-306E00B050C0}" destId="{B5DC5E18-02B2-47D6-A698-F1B271627FF2}" srcOrd="8" destOrd="0" presId="urn:microsoft.com/office/officeart/2018/2/layout/IconCircleList"/>
    <dgm:cxn modelId="{868AC191-D62F-4DC8-9BCD-4F9E6ED1DE03}" type="presParOf" srcId="{B5DC5E18-02B2-47D6-A698-F1B271627FF2}" destId="{E256345B-0A42-47AB-B638-3565D2DE0A42}" srcOrd="0" destOrd="0" presId="urn:microsoft.com/office/officeart/2018/2/layout/IconCircleList"/>
    <dgm:cxn modelId="{BADECEDA-C287-48D7-9BB2-D835433C57EA}" type="presParOf" srcId="{B5DC5E18-02B2-47D6-A698-F1B271627FF2}" destId="{9826E905-CFFA-475E-B683-DA1967A09146}" srcOrd="1" destOrd="0" presId="urn:microsoft.com/office/officeart/2018/2/layout/IconCircleList"/>
    <dgm:cxn modelId="{A9685902-1AD0-4936-8C8E-71277853B848}" type="presParOf" srcId="{B5DC5E18-02B2-47D6-A698-F1B271627FF2}" destId="{22CB9022-439D-4A9C-912E-E04CE16BE74F}" srcOrd="2" destOrd="0" presId="urn:microsoft.com/office/officeart/2018/2/layout/IconCircleList"/>
    <dgm:cxn modelId="{D32C776E-8E80-4C98-A92A-0E5C83803E44}" type="presParOf" srcId="{B5DC5E18-02B2-47D6-A698-F1B271627FF2}" destId="{2EDF14FA-6DDC-4B62-9A45-546D61B6080F}" srcOrd="3" destOrd="0" presId="urn:microsoft.com/office/officeart/2018/2/layout/IconCircleList"/>
    <dgm:cxn modelId="{7F9CDE1E-B0CA-40E7-8B13-9D86B1726E77}" type="presParOf" srcId="{5FC27538-CDE3-4C47-99CD-306E00B050C0}" destId="{B419363E-FEFF-41EC-9EE3-0A97DD661A6F}" srcOrd="9" destOrd="0" presId="urn:microsoft.com/office/officeart/2018/2/layout/IconCircleList"/>
    <dgm:cxn modelId="{C7801256-6977-4589-A637-7F1CAA78A5FA}" type="presParOf" srcId="{5FC27538-CDE3-4C47-99CD-306E00B050C0}" destId="{7906B523-60BE-43D2-9DCB-C472F1CB7A51}" srcOrd="10" destOrd="0" presId="urn:microsoft.com/office/officeart/2018/2/layout/IconCircleList"/>
    <dgm:cxn modelId="{E2CF831A-2E49-4181-8EB0-168E439DADD9}" type="presParOf" srcId="{7906B523-60BE-43D2-9DCB-C472F1CB7A51}" destId="{18C8CA60-167A-45D7-A7E8-23ACA9EBB683}" srcOrd="0" destOrd="0" presId="urn:microsoft.com/office/officeart/2018/2/layout/IconCircleList"/>
    <dgm:cxn modelId="{F454C528-E53A-40E5-91A1-62D0B7F5E6B9}" type="presParOf" srcId="{7906B523-60BE-43D2-9DCB-C472F1CB7A51}" destId="{BE2A4AA9-4E6F-41C1-B120-F72AAB9F0EE0}" srcOrd="1" destOrd="0" presId="urn:microsoft.com/office/officeart/2018/2/layout/IconCircleList"/>
    <dgm:cxn modelId="{7EA7EACC-BE0E-4738-89D8-4184C6C5BB5B}" type="presParOf" srcId="{7906B523-60BE-43D2-9DCB-C472F1CB7A51}" destId="{EA05269D-5DD5-4A34-92E2-78468592CB3E}" srcOrd="2" destOrd="0" presId="urn:microsoft.com/office/officeart/2018/2/layout/IconCircleList"/>
    <dgm:cxn modelId="{3F79637E-EB28-42D2-9561-F431EB6FCFB8}" type="presParOf" srcId="{7906B523-60BE-43D2-9DCB-C472F1CB7A51}" destId="{70D095B8-7CFF-42E6-9572-66939768679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994A95-E47B-4A5C-9F55-CA4E4C5DD10C}"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61CBDF0A-2EE3-453C-B801-EFDDB18638B3}">
      <dgm:prSet/>
      <dgm:spPr/>
      <dgm:t>
        <a:bodyPr/>
        <a:lstStyle/>
        <a:p>
          <a:r>
            <a:rPr lang="en-US" b="0" i="0"/>
            <a:t>This dataset consists of tv shows and movies available on Netflix as of 2019. The dataset is collected from Flixable which is a third-party Netflix search engine.</a:t>
          </a:r>
          <a:endParaRPr lang="en-US"/>
        </a:p>
      </dgm:t>
    </dgm:pt>
    <dgm:pt modelId="{BD8F3144-9E3C-41F2-ACCC-AFDB45234081}" type="parTrans" cxnId="{8B9B2257-DEF6-4755-8621-8D4DA2461536}">
      <dgm:prSet/>
      <dgm:spPr/>
      <dgm:t>
        <a:bodyPr/>
        <a:lstStyle/>
        <a:p>
          <a:endParaRPr lang="en-US"/>
        </a:p>
      </dgm:t>
    </dgm:pt>
    <dgm:pt modelId="{AEE63FAB-C509-453E-A699-312496ECFCFF}" type="sibTrans" cxnId="{8B9B2257-DEF6-4755-8621-8D4DA2461536}">
      <dgm:prSet/>
      <dgm:spPr/>
      <dgm:t>
        <a:bodyPr/>
        <a:lstStyle/>
        <a:p>
          <a:endParaRPr lang="en-US"/>
        </a:p>
      </dgm:t>
    </dgm:pt>
    <dgm:pt modelId="{FFCDA51F-EEB7-49D4-9DC6-10D7B2C8D0A7}">
      <dgm:prSet/>
      <dgm:spPr/>
      <dgm:t>
        <a:bodyPr/>
        <a:lstStyle/>
        <a:p>
          <a:r>
            <a:rPr lang="en-US" b="0" i="0" dirty="0"/>
            <a:t>In 2018, they released an interesting </a:t>
          </a:r>
          <a:r>
            <a:rPr lang="en-US" b="0" i="0" dirty="0">
              <a:highlight>
                <a:srgbClr val="FFFF00"/>
              </a:highlight>
              <a:hlinkClick xmlns:r="http://schemas.openxmlformats.org/officeDocument/2006/relationships" r:id="rId1"/>
            </a:rPr>
            <a:t>report</a:t>
          </a:r>
          <a:r>
            <a:rPr lang="en-US" b="0" i="0" dirty="0">
              <a:highlight>
                <a:srgbClr val="FFFF00"/>
              </a:highlight>
            </a:rPr>
            <a:t> </a:t>
          </a:r>
          <a:r>
            <a:rPr lang="en-US" b="0" i="0" dirty="0"/>
            <a:t>which shows that the number of TV shows on Netflix has nearly tripled since 2010. The streaming service’s number of movies has decreased by more than 2,000 titles since 2010, while its number of TV shows has nearly tripled. It will be interesting to explore what all other insights can be obtained from the same dataset.</a:t>
          </a:r>
          <a:endParaRPr lang="en-US" dirty="0"/>
        </a:p>
      </dgm:t>
    </dgm:pt>
    <dgm:pt modelId="{58040A51-1F06-41F0-94B6-0ABAF7174433}" type="parTrans" cxnId="{2C599EA8-FD52-4FB4-B091-679E4F72CDDA}">
      <dgm:prSet/>
      <dgm:spPr/>
      <dgm:t>
        <a:bodyPr/>
        <a:lstStyle/>
        <a:p>
          <a:endParaRPr lang="en-US"/>
        </a:p>
      </dgm:t>
    </dgm:pt>
    <dgm:pt modelId="{67C1C87E-FBAC-4913-879D-FF955AB0AC9C}" type="sibTrans" cxnId="{2C599EA8-FD52-4FB4-B091-679E4F72CDDA}">
      <dgm:prSet/>
      <dgm:spPr/>
      <dgm:t>
        <a:bodyPr/>
        <a:lstStyle/>
        <a:p>
          <a:endParaRPr lang="en-US"/>
        </a:p>
      </dgm:t>
    </dgm:pt>
    <dgm:pt modelId="{FE2FE5A8-3938-4707-B8B2-3AD1332EB473}">
      <dgm:prSet/>
      <dgm:spPr/>
      <dgm:t>
        <a:bodyPr/>
        <a:lstStyle/>
        <a:p>
          <a:r>
            <a:rPr lang="en-US" b="0" i="0" dirty="0"/>
            <a:t>Integrating this dataset with other external datasets such as IMDB ratings, rotten tomatoes can also provide many interesting findings.</a:t>
          </a:r>
          <a:endParaRPr lang="en-US" dirty="0"/>
        </a:p>
      </dgm:t>
    </dgm:pt>
    <dgm:pt modelId="{68756587-241D-474C-AF4A-0A33315702CE}" type="parTrans" cxnId="{072A19FA-69CA-42C8-AF18-B33C9EBEE0D3}">
      <dgm:prSet/>
      <dgm:spPr/>
      <dgm:t>
        <a:bodyPr/>
        <a:lstStyle/>
        <a:p>
          <a:endParaRPr lang="en-US"/>
        </a:p>
      </dgm:t>
    </dgm:pt>
    <dgm:pt modelId="{E519B434-A258-4BF6-8AF0-21CD896EC6E2}" type="sibTrans" cxnId="{072A19FA-69CA-42C8-AF18-B33C9EBEE0D3}">
      <dgm:prSet/>
      <dgm:spPr/>
      <dgm:t>
        <a:bodyPr/>
        <a:lstStyle/>
        <a:p>
          <a:endParaRPr lang="en-US"/>
        </a:p>
      </dgm:t>
    </dgm:pt>
    <dgm:pt modelId="{4056AD48-013D-4D74-AAF3-62E9C9F47E63}" type="pres">
      <dgm:prSet presAssocID="{AB994A95-E47B-4A5C-9F55-CA4E4C5DD10C}" presName="linear" presStyleCnt="0">
        <dgm:presLayoutVars>
          <dgm:animLvl val="lvl"/>
          <dgm:resizeHandles val="exact"/>
        </dgm:presLayoutVars>
      </dgm:prSet>
      <dgm:spPr/>
    </dgm:pt>
    <dgm:pt modelId="{5E551C1E-E3DD-40BE-BC2A-F52C3968DB05}" type="pres">
      <dgm:prSet presAssocID="{61CBDF0A-2EE3-453C-B801-EFDDB18638B3}" presName="parentText" presStyleLbl="node1" presStyleIdx="0" presStyleCnt="3">
        <dgm:presLayoutVars>
          <dgm:chMax val="0"/>
          <dgm:bulletEnabled val="1"/>
        </dgm:presLayoutVars>
      </dgm:prSet>
      <dgm:spPr/>
    </dgm:pt>
    <dgm:pt modelId="{8D11D118-5A3F-4B38-89E2-B4AD02C6ADA6}" type="pres">
      <dgm:prSet presAssocID="{AEE63FAB-C509-453E-A699-312496ECFCFF}" presName="spacer" presStyleCnt="0"/>
      <dgm:spPr/>
    </dgm:pt>
    <dgm:pt modelId="{4330411D-557B-42FD-8D8B-B04E3E586B16}" type="pres">
      <dgm:prSet presAssocID="{FFCDA51F-EEB7-49D4-9DC6-10D7B2C8D0A7}" presName="parentText" presStyleLbl="node1" presStyleIdx="1" presStyleCnt="3">
        <dgm:presLayoutVars>
          <dgm:chMax val="0"/>
          <dgm:bulletEnabled val="1"/>
        </dgm:presLayoutVars>
      </dgm:prSet>
      <dgm:spPr/>
    </dgm:pt>
    <dgm:pt modelId="{ED11957A-0AEB-4CBE-BB59-900B0B1F1381}" type="pres">
      <dgm:prSet presAssocID="{67C1C87E-FBAC-4913-879D-FF955AB0AC9C}" presName="spacer" presStyleCnt="0"/>
      <dgm:spPr/>
    </dgm:pt>
    <dgm:pt modelId="{834C37DE-A9AA-4CC4-A894-AF2E51D1B8C6}" type="pres">
      <dgm:prSet presAssocID="{FE2FE5A8-3938-4707-B8B2-3AD1332EB473}" presName="parentText" presStyleLbl="node1" presStyleIdx="2" presStyleCnt="3">
        <dgm:presLayoutVars>
          <dgm:chMax val="0"/>
          <dgm:bulletEnabled val="1"/>
        </dgm:presLayoutVars>
      </dgm:prSet>
      <dgm:spPr/>
    </dgm:pt>
  </dgm:ptLst>
  <dgm:cxnLst>
    <dgm:cxn modelId="{8FA5971A-4F6E-4000-8994-22F0CA1367E5}" type="presOf" srcId="{AB994A95-E47B-4A5C-9F55-CA4E4C5DD10C}" destId="{4056AD48-013D-4D74-AAF3-62E9C9F47E63}" srcOrd="0" destOrd="0" presId="urn:microsoft.com/office/officeart/2005/8/layout/vList2"/>
    <dgm:cxn modelId="{8B9B2257-DEF6-4755-8621-8D4DA2461536}" srcId="{AB994A95-E47B-4A5C-9F55-CA4E4C5DD10C}" destId="{61CBDF0A-2EE3-453C-B801-EFDDB18638B3}" srcOrd="0" destOrd="0" parTransId="{BD8F3144-9E3C-41F2-ACCC-AFDB45234081}" sibTransId="{AEE63FAB-C509-453E-A699-312496ECFCFF}"/>
    <dgm:cxn modelId="{7386F97D-31B1-4615-9CAF-0FFDB72EFEF8}" type="presOf" srcId="{FFCDA51F-EEB7-49D4-9DC6-10D7B2C8D0A7}" destId="{4330411D-557B-42FD-8D8B-B04E3E586B16}" srcOrd="0" destOrd="0" presId="urn:microsoft.com/office/officeart/2005/8/layout/vList2"/>
    <dgm:cxn modelId="{F4102693-6835-42D6-883F-B85001F9C55F}" type="presOf" srcId="{FE2FE5A8-3938-4707-B8B2-3AD1332EB473}" destId="{834C37DE-A9AA-4CC4-A894-AF2E51D1B8C6}" srcOrd="0" destOrd="0" presId="urn:microsoft.com/office/officeart/2005/8/layout/vList2"/>
    <dgm:cxn modelId="{2C599EA8-FD52-4FB4-B091-679E4F72CDDA}" srcId="{AB994A95-E47B-4A5C-9F55-CA4E4C5DD10C}" destId="{FFCDA51F-EEB7-49D4-9DC6-10D7B2C8D0A7}" srcOrd="1" destOrd="0" parTransId="{58040A51-1F06-41F0-94B6-0ABAF7174433}" sibTransId="{67C1C87E-FBAC-4913-879D-FF955AB0AC9C}"/>
    <dgm:cxn modelId="{F6EA5FF0-EEBA-41FC-8DD9-11A176BF3A8D}" type="presOf" srcId="{61CBDF0A-2EE3-453C-B801-EFDDB18638B3}" destId="{5E551C1E-E3DD-40BE-BC2A-F52C3968DB05}" srcOrd="0" destOrd="0" presId="urn:microsoft.com/office/officeart/2005/8/layout/vList2"/>
    <dgm:cxn modelId="{072A19FA-69CA-42C8-AF18-B33C9EBEE0D3}" srcId="{AB994A95-E47B-4A5C-9F55-CA4E4C5DD10C}" destId="{FE2FE5A8-3938-4707-B8B2-3AD1332EB473}" srcOrd="2" destOrd="0" parTransId="{68756587-241D-474C-AF4A-0A33315702CE}" sibTransId="{E519B434-A258-4BF6-8AF0-21CD896EC6E2}"/>
    <dgm:cxn modelId="{F2414F66-74DE-427E-9B81-8A99CE882223}" type="presParOf" srcId="{4056AD48-013D-4D74-AAF3-62E9C9F47E63}" destId="{5E551C1E-E3DD-40BE-BC2A-F52C3968DB05}" srcOrd="0" destOrd="0" presId="urn:microsoft.com/office/officeart/2005/8/layout/vList2"/>
    <dgm:cxn modelId="{5CFC92BB-CE42-4A0D-BE36-50FA9D8CC077}" type="presParOf" srcId="{4056AD48-013D-4D74-AAF3-62E9C9F47E63}" destId="{8D11D118-5A3F-4B38-89E2-B4AD02C6ADA6}" srcOrd="1" destOrd="0" presId="urn:microsoft.com/office/officeart/2005/8/layout/vList2"/>
    <dgm:cxn modelId="{5810B1FC-27A8-4B71-8E38-12CE33ADA993}" type="presParOf" srcId="{4056AD48-013D-4D74-AAF3-62E9C9F47E63}" destId="{4330411D-557B-42FD-8D8B-B04E3E586B16}" srcOrd="2" destOrd="0" presId="urn:microsoft.com/office/officeart/2005/8/layout/vList2"/>
    <dgm:cxn modelId="{9305F651-0894-4382-B140-2E147E611EB1}" type="presParOf" srcId="{4056AD48-013D-4D74-AAF3-62E9C9F47E63}" destId="{ED11957A-0AEB-4CBE-BB59-900B0B1F1381}" srcOrd="3" destOrd="0" presId="urn:microsoft.com/office/officeart/2005/8/layout/vList2"/>
    <dgm:cxn modelId="{4164AADE-67CE-4F8E-AA5F-85F9F657D6A5}" type="presParOf" srcId="{4056AD48-013D-4D74-AAF3-62E9C9F47E63}" destId="{834C37DE-A9AA-4CC4-A894-AF2E51D1B8C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DEE34B-1B16-4B34-8707-6AB2AB08B578}" type="doc">
      <dgm:prSet loTypeId="urn:microsoft.com/office/officeart/2005/8/layout/default" loCatId="list" qsTypeId="urn:microsoft.com/office/officeart/2005/8/quickstyle/simple4" qsCatId="simple" csTypeId="urn:microsoft.com/office/officeart/2005/8/colors/colorful1" csCatId="colorful"/>
      <dgm:spPr/>
      <dgm:t>
        <a:bodyPr/>
        <a:lstStyle/>
        <a:p>
          <a:endParaRPr lang="en-US"/>
        </a:p>
      </dgm:t>
    </dgm:pt>
    <dgm:pt modelId="{DF8A7979-AFD7-44A8-A49F-7A60777EA64B}">
      <dgm:prSet/>
      <dgm:spPr/>
      <dgm:t>
        <a:bodyPr/>
        <a:lstStyle/>
        <a:p>
          <a:r>
            <a:rPr lang="en-US" b="0" i="0"/>
            <a:t>Understanding what content is available in different countries</a:t>
          </a:r>
          <a:endParaRPr lang="en-US"/>
        </a:p>
      </dgm:t>
    </dgm:pt>
    <dgm:pt modelId="{6BF0AFBD-BACF-480E-92A8-2AD6C0F8EF9C}" type="parTrans" cxnId="{2606CAFC-90CB-4749-9823-0FF1C6538D05}">
      <dgm:prSet/>
      <dgm:spPr/>
      <dgm:t>
        <a:bodyPr/>
        <a:lstStyle/>
        <a:p>
          <a:endParaRPr lang="en-US"/>
        </a:p>
      </dgm:t>
    </dgm:pt>
    <dgm:pt modelId="{9D384B77-CC1D-45E4-81E9-76824A7EBDCF}" type="sibTrans" cxnId="{2606CAFC-90CB-4749-9823-0FF1C6538D05}">
      <dgm:prSet/>
      <dgm:spPr/>
      <dgm:t>
        <a:bodyPr/>
        <a:lstStyle/>
        <a:p>
          <a:endParaRPr lang="en-US"/>
        </a:p>
      </dgm:t>
    </dgm:pt>
    <dgm:pt modelId="{2EA21C8F-4F2F-4317-A597-6D03A9C622C8}">
      <dgm:prSet/>
      <dgm:spPr/>
      <dgm:t>
        <a:bodyPr/>
        <a:lstStyle/>
        <a:p>
          <a:r>
            <a:rPr lang="en-US"/>
            <a:t>What are most popular genres on Netflix</a:t>
          </a:r>
        </a:p>
      </dgm:t>
    </dgm:pt>
    <dgm:pt modelId="{7E1B4FA8-B23C-472B-891C-BF03F53F21A1}" type="parTrans" cxnId="{874A177B-E26C-41FF-A524-F550A3FCC7C9}">
      <dgm:prSet/>
      <dgm:spPr/>
      <dgm:t>
        <a:bodyPr/>
        <a:lstStyle/>
        <a:p>
          <a:endParaRPr lang="en-US"/>
        </a:p>
      </dgm:t>
    </dgm:pt>
    <dgm:pt modelId="{AF389516-F90E-402C-A921-1687D79E6404}" type="sibTrans" cxnId="{874A177B-E26C-41FF-A524-F550A3FCC7C9}">
      <dgm:prSet/>
      <dgm:spPr/>
      <dgm:t>
        <a:bodyPr/>
        <a:lstStyle/>
        <a:p>
          <a:endParaRPr lang="en-US"/>
        </a:p>
      </dgm:t>
    </dgm:pt>
    <dgm:pt modelId="{347C2864-5EB2-4E4B-8107-A59DD5605ADA}">
      <dgm:prSet/>
      <dgm:spPr/>
      <dgm:t>
        <a:bodyPr/>
        <a:lstStyle/>
        <a:p>
          <a:r>
            <a:rPr lang="en-US" b="0" i="0"/>
            <a:t>Is Netflix has increasingly focused on TV rather than movies in recent years.</a:t>
          </a:r>
          <a:endParaRPr lang="en-US"/>
        </a:p>
      </dgm:t>
    </dgm:pt>
    <dgm:pt modelId="{8FE175D2-AC8E-45C8-B808-C099BF322C3B}" type="parTrans" cxnId="{A65C4A32-BEB2-488E-A945-5D07236104C3}">
      <dgm:prSet/>
      <dgm:spPr/>
      <dgm:t>
        <a:bodyPr/>
        <a:lstStyle/>
        <a:p>
          <a:endParaRPr lang="en-US"/>
        </a:p>
      </dgm:t>
    </dgm:pt>
    <dgm:pt modelId="{BCCC0982-FDCE-4CA3-9B9F-06EF9F516963}" type="sibTrans" cxnId="{A65C4A32-BEB2-488E-A945-5D07236104C3}">
      <dgm:prSet/>
      <dgm:spPr/>
      <dgm:t>
        <a:bodyPr/>
        <a:lstStyle/>
        <a:p>
          <a:endParaRPr lang="en-US"/>
        </a:p>
      </dgm:t>
    </dgm:pt>
    <dgm:pt modelId="{C41B4685-9182-4CA9-83CE-4412B2845757}">
      <dgm:prSet/>
      <dgm:spPr/>
      <dgm:t>
        <a:bodyPr/>
        <a:lstStyle/>
        <a:p>
          <a:r>
            <a:rPr lang="en-US"/>
            <a:t>What are the rating for Netflix contents</a:t>
          </a:r>
        </a:p>
      </dgm:t>
    </dgm:pt>
    <dgm:pt modelId="{270ABA57-7179-4D88-AF9E-E0F7C2B38A82}" type="parTrans" cxnId="{56FC9026-F5A8-4143-963B-4F4188B6129F}">
      <dgm:prSet/>
      <dgm:spPr/>
      <dgm:t>
        <a:bodyPr/>
        <a:lstStyle/>
        <a:p>
          <a:endParaRPr lang="en-US"/>
        </a:p>
      </dgm:t>
    </dgm:pt>
    <dgm:pt modelId="{ECA79548-3E7A-47D4-9B6C-51DFC85FA1CB}" type="sibTrans" cxnId="{56FC9026-F5A8-4143-963B-4F4188B6129F}">
      <dgm:prSet/>
      <dgm:spPr/>
      <dgm:t>
        <a:bodyPr/>
        <a:lstStyle/>
        <a:p>
          <a:endParaRPr lang="en-US"/>
        </a:p>
      </dgm:t>
    </dgm:pt>
    <dgm:pt modelId="{B575577D-88A2-4BDF-BD11-199481A24980}">
      <dgm:prSet/>
      <dgm:spPr/>
      <dgm:t>
        <a:bodyPr/>
        <a:lstStyle/>
        <a:p>
          <a:r>
            <a:rPr lang="en-US"/>
            <a:t>Which county have highest Netflix content listed</a:t>
          </a:r>
        </a:p>
      </dgm:t>
    </dgm:pt>
    <dgm:pt modelId="{672FD022-0462-4C75-9C19-28480CFBE8E4}" type="parTrans" cxnId="{350814F5-17B5-4E4F-A74A-A84C6E70BC46}">
      <dgm:prSet/>
      <dgm:spPr/>
      <dgm:t>
        <a:bodyPr/>
        <a:lstStyle/>
        <a:p>
          <a:endParaRPr lang="en-US"/>
        </a:p>
      </dgm:t>
    </dgm:pt>
    <dgm:pt modelId="{6E285AA1-AE36-4D80-963A-C668E6D24452}" type="sibTrans" cxnId="{350814F5-17B5-4E4F-A74A-A84C6E70BC46}">
      <dgm:prSet/>
      <dgm:spPr/>
      <dgm:t>
        <a:bodyPr/>
        <a:lstStyle/>
        <a:p>
          <a:endParaRPr lang="en-US"/>
        </a:p>
      </dgm:t>
    </dgm:pt>
    <dgm:pt modelId="{8DE23458-3852-459C-A1C4-5D94CC63B2E9}" type="pres">
      <dgm:prSet presAssocID="{FFDEE34B-1B16-4B34-8707-6AB2AB08B578}" presName="diagram" presStyleCnt="0">
        <dgm:presLayoutVars>
          <dgm:dir/>
          <dgm:resizeHandles val="exact"/>
        </dgm:presLayoutVars>
      </dgm:prSet>
      <dgm:spPr/>
    </dgm:pt>
    <dgm:pt modelId="{3B3D9737-B681-43BD-9857-5FC47E6364D7}" type="pres">
      <dgm:prSet presAssocID="{DF8A7979-AFD7-44A8-A49F-7A60777EA64B}" presName="node" presStyleLbl="node1" presStyleIdx="0" presStyleCnt="5">
        <dgm:presLayoutVars>
          <dgm:bulletEnabled val="1"/>
        </dgm:presLayoutVars>
      </dgm:prSet>
      <dgm:spPr/>
    </dgm:pt>
    <dgm:pt modelId="{F6C85724-1C33-4DC6-80E7-479F69E3A980}" type="pres">
      <dgm:prSet presAssocID="{9D384B77-CC1D-45E4-81E9-76824A7EBDCF}" presName="sibTrans" presStyleCnt="0"/>
      <dgm:spPr/>
    </dgm:pt>
    <dgm:pt modelId="{AF2D9049-3745-49B1-99A3-7D7872BC3A9D}" type="pres">
      <dgm:prSet presAssocID="{2EA21C8F-4F2F-4317-A597-6D03A9C622C8}" presName="node" presStyleLbl="node1" presStyleIdx="1" presStyleCnt="5">
        <dgm:presLayoutVars>
          <dgm:bulletEnabled val="1"/>
        </dgm:presLayoutVars>
      </dgm:prSet>
      <dgm:spPr/>
    </dgm:pt>
    <dgm:pt modelId="{F571E898-8EB7-407B-AD05-91E4EF7A1623}" type="pres">
      <dgm:prSet presAssocID="{AF389516-F90E-402C-A921-1687D79E6404}" presName="sibTrans" presStyleCnt="0"/>
      <dgm:spPr/>
    </dgm:pt>
    <dgm:pt modelId="{97B68108-93D1-46E1-A1AB-97C2AB1739AB}" type="pres">
      <dgm:prSet presAssocID="{347C2864-5EB2-4E4B-8107-A59DD5605ADA}" presName="node" presStyleLbl="node1" presStyleIdx="2" presStyleCnt="5">
        <dgm:presLayoutVars>
          <dgm:bulletEnabled val="1"/>
        </dgm:presLayoutVars>
      </dgm:prSet>
      <dgm:spPr/>
    </dgm:pt>
    <dgm:pt modelId="{8E91EFE2-DF23-480A-AE8A-E65A094DD90E}" type="pres">
      <dgm:prSet presAssocID="{BCCC0982-FDCE-4CA3-9B9F-06EF9F516963}" presName="sibTrans" presStyleCnt="0"/>
      <dgm:spPr/>
    </dgm:pt>
    <dgm:pt modelId="{B26CD89D-BAB3-404E-9E26-64E9E4C9BDE5}" type="pres">
      <dgm:prSet presAssocID="{C41B4685-9182-4CA9-83CE-4412B2845757}" presName="node" presStyleLbl="node1" presStyleIdx="3" presStyleCnt="5">
        <dgm:presLayoutVars>
          <dgm:bulletEnabled val="1"/>
        </dgm:presLayoutVars>
      </dgm:prSet>
      <dgm:spPr/>
    </dgm:pt>
    <dgm:pt modelId="{214C6C86-29AA-4022-8256-942EFADBC32E}" type="pres">
      <dgm:prSet presAssocID="{ECA79548-3E7A-47D4-9B6C-51DFC85FA1CB}" presName="sibTrans" presStyleCnt="0"/>
      <dgm:spPr/>
    </dgm:pt>
    <dgm:pt modelId="{356ABEC4-AB33-4255-97A5-6552BB0153B5}" type="pres">
      <dgm:prSet presAssocID="{B575577D-88A2-4BDF-BD11-199481A24980}" presName="node" presStyleLbl="node1" presStyleIdx="4" presStyleCnt="5">
        <dgm:presLayoutVars>
          <dgm:bulletEnabled val="1"/>
        </dgm:presLayoutVars>
      </dgm:prSet>
      <dgm:spPr/>
    </dgm:pt>
  </dgm:ptLst>
  <dgm:cxnLst>
    <dgm:cxn modelId="{83A8DF02-144F-42E1-AB45-A4964A5123F5}" type="presOf" srcId="{B575577D-88A2-4BDF-BD11-199481A24980}" destId="{356ABEC4-AB33-4255-97A5-6552BB0153B5}" srcOrd="0" destOrd="0" presId="urn:microsoft.com/office/officeart/2005/8/layout/default"/>
    <dgm:cxn modelId="{E0A05725-19AF-4631-B1E1-6BA51CD48620}" type="presOf" srcId="{347C2864-5EB2-4E4B-8107-A59DD5605ADA}" destId="{97B68108-93D1-46E1-A1AB-97C2AB1739AB}" srcOrd="0" destOrd="0" presId="urn:microsoft.com/office/officeart/2005/8/layout/default"/>
    <dgm:cxn modelId="{56FC9026-F5A8-4143-963B-4F4188B6129F}" srcId="{FFDEE34B-1B16-4B34-8707-6AB2AB08B578}" destId="{C41B4685-9182-4CA9-83CE-4412B2845757}" srcOrd="3" destOrd="0" parTransId="{270ABA57-7179-4D88-AF9E-E0F7C2B38A82}" sibTransId="{ECA79548-3E7A-47D4-9B6C-51DFC85FA1CB}"/>
    <dgm:cxn modelId="{A65C4A32-BEB2-488E-A945-5D07236104C3}" srcId="{FFDEE34B-1B16-4B34-8707-6AB2AB08B578}" destId="{347C2864-5EB2-4E4B-8107-A59DD5605ADA}" srcOrd="2" destOrd="0" parTransId="{8FE175D2-AC8E-45C8-B808-C099BF322C3B}" sibTransId="{BCCC0982-FDCE-4CA3-9B9F-06EF9F516963}"/>
    <dgm:cxn modelId="{76C23F35-E46E-4D09-9622-92DBE784F671}" type="presOf" srcId="{C41B4685-9182-4CA9-83CE-4412B2845757}" destId="{B26CD89D-BAB3-404E-9E26-64E9E4C9BDE5}" srcOrd="0" destOrd="0" presId="urn:microsoft.com/office/officeart/2005/8/layout/default"/>
    <dgm:cxn modelId="{E3B13A53-CC75-401A-A6B5-89556B28F9C7}" type="presOf" srcId="{FFDEE34B-1B16-4B34-8707-6AB2AB08B578}" destId="{8DE23458-3852-459C-A1C4-5D94CC63B2E9}" srcOrd="0" destOrd="0" presId="urn:microsoft.com/office/officeart/2005/8/layout/default"/>
    <dgm:cxn modelId="{874A177B-E26C-41FF-A524-F550A3FCC7C9}" srcId="{FFDEE34B-1B16-4B34-8707-6AB2AB08B578}" destId="{2EA21C8F-4F2F-4317-A597-6D03A9C622C8}" srcOrd="1" destOrd="0" parTransId="{7E1B4FA8-B23C-472B-891C-BF03F53F21A1}" sibTransId="{AF389516-F90E-402C-A921-1687D79E6404}"/>
    <dgm:cxn modelId="{B4DA69B7-8A06-475E-A60C-8BB28137B3E9}" type="presOf" srcId="{2EA21C8F-4F2F-4317-A597-6D03A9C622C8}" destId="{AF2D9049-3745-49B1-99A3-7D7872BC3A9D}" srcOrd="0" destOrd="0" presId="urn:microsoft.com/office/officeart/2005/8/layout/default"/>
    <dgm:cxn modelId="{D4FE3BEF-84A4-46A1-9D05-228F6ABE64FF}" type="presOf" srcId="{DF8A7979-AFD7-44A8-A49F-7A60777EA64B}" destId="{3B3D9737-B681-43BD-9857-5FC47E6364D7}" srcOrd="0" destOrd="0" presId="urn:microsoft.com/office/officeart/2005/8/layout/default"/>
    <dgm:cxn modelId="{350814F5-17B5-4E4F-A74A-A84C6E70BC46}" srcId="{FFDEE34B-1B16-4B34-8707-6AB2AB08B578}" destId="{B575577D-88A2-4BDF-BD11-199481A24980}" srcOrd="4" destOrd="0" parTransId="{672FD022-0462-4C75-9C19-28480CFBE8E4}" sibTransId="{6E285AA1-AE36-4D80-963A-C668E6D24452}"/>
    <dgm:cxn modelId="{2606CAFC-90CB-4749-9823-0FF1C6538D05}" srcId="{FFDEE34B-1B16-4B34-8707-6AB2AB08B578}" destId="{DF8A7979-AFD7-44A8-A49F-7A60777EA64B}" srcOrd="0" destOrd="0" parTransId="{6BF0AFBD-BACF-480E-92A8-2AD6C0F8EF9C}" sibTransId="{9D384B77-CC1D-45E4-81E9-76824A7EBDCF}"/>
    <dgm:cxn modelId="{CDE5C139-7130-461C-9AED-4EDEE51F38DD}" type="presParOf" srcId="{8DE23458-3852-459C-A1C4-5D94CC63B2E9}" destId="{3B3D9737-B681-43BD-9857-5FC47E6364D7}" srcOrd="0" destOrd="0" presId="urn:microsoft.com/office/officeart/2005/8/layout/default"/>
    <dgm:cxn modelId="{B76BC450-CF02-41E7-808A-B7531EF45DE5}" type="presParOf" srcId="{8DE23458-3852-459C-A1C4-5D94CC63B2E9}" destId="{F6C85724-1C33-4DC6-80E7-479F69E3A980}" srcOrd="1" destOrd="0" presId="urn:microsoft.com/office/officeart/2005/8/layout/default"/>
    <dgm:cxn modelId="{EE1D2615-5ED4-4BD6-BC63-E9743426A20D}" type="presParOf" srcId="{8DE23458-3852-459C-A1C4-5D94CC63B2E9}" destId="{AF2D9049-3745-49B1-99A3-7D7872BC3A9D}" srcOrd="2" destOrd="0" presId="urn:microsoft.com/office/officeart/2005/8/layout/default"/>
    <dgm:cxn modelId="{F65C5543-4263-48E7-8375-720168D8BE5E}" type="presParOf" srcId="{8DE23458-3852-459C-A1C4-5D94CC63B2E9}" destId="{F571E898-8EB7-407B-AD05-91E4EF7A1623}" srcOrd="3" destOrd="0" presId="urn:microsoft.com/office/officeart/2005/8/layout/default"/>
    <dgm:cxn modelId="{E65A05BC-B385-4FD2-AF1E-1B341B6CF33C}" type="presParOf" srcId="{8DE23458-3852-459C-A1C4-5D94CC63B2E9}" destId="{97B68108-93D1-46E1-A1AB-97C2AB1739AB}" srcOrd="4" destOrd="0" presId="urn:microsoft.com/office/officeart/2005/8/layout/default"/>
    <dgm:cxn modelId="{457AB429-FB52-4BC1-8877-EDEC2CC9EACB}" type="presParOf" srcId="{8DE23458-3852-459C-A1C4-5D94CC63B2E9}" destId="{8E91EFE2-DF23-480A-AE8A-E65A094DD90E}" srcOrd="5" destOrd="0" presId="urn:microsoft.com/office/officeart/2005/8/layout/default"/>
    <dgm:cxn modelId="{B490A711-CF6C-46BF-B99C-68A7D1E81C96}" type="presParOf" srcId="{8DE23458-3852-459C-A1C4-5D94CC63B2E9}" destId="{B26CD89D-BAB3-404E-9E26-64E9E4C9BDE5}" srcOrd="6" destOrd="0" presId="urn:microsoft.com/office/officeart/2005/8/layout/default"/>
    <dgm:cxn modelId="{08A393C6-920C-498C-A9DD-4B22D1F727E6}" type="presParOf" srcId="{8DE23458-3852-459C-A1C4-5D94CC63B2E9}" destId="{214C6C86-29AA-4022-8256-942EFADBC32E}" srcOrd="7" destOrd="0" presId="urn:microsoft.com/office/officeart/2005/8/layout/default"/>
    <dgm:cxn modelId="{D1094887-8AEA-4B85-90A8-BD8D069652B0}" type="presParOf" srcId="{8DE23458-3852-459C-A1C4-5D94CC63B2E9}" destId="{356ABEC4-AB33-4255-97A5-6552BB0153B5}"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DB2AB11-230D-4809-911C-AAF52D4AAE58}"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908ACC7E-2122-49DA-9AEE-4BB4AB23AEE0}">
      <dgm:prSet/>
      <dgm:spPr/>
      <dgm:t>
        <a:bodyPr/>
        <a:lstStyle/>
        <a:p>
          <a:r>
            <a:rPr lang="en-US" b="0" i="0"/>
            <a:t>This dataset contains data collected from Netflix of different TV shows and movies from the year 2008 to 2021.</a:t>
          </a:r>
          <a:endParaRPr lang="en-US"/>
        </a:p>
      </dgm:t>
    </dgm:pt>
    <dgm:pt modelId="{8365E053-2ECF-4673-A64F-010E1197E64F}" type="parTrans" cxnId="{07993E6B-EE06-4D47-AF39-D3B4E82F8537}">
      <dgm:prSet/>
      <dgm:spPr/>
      <dgm:t>
        <a:bodyPr/>
        <a:lstStyle/>
        <a:p>
          <a:endParaRPr lang="en-US"/>
        </a:p>
      </dgm:t>
    </dgm:pt>
    <dgm:pt modelId="{AEC96655-191E-4057-ADDF-2BB1C47DA74F}" type="sibTrans" cxnId="{07993E6B-EE06-4D47-AF39-D3B4E82F8537}">
      <dgm:prSet/>
      <dgm:spPr/>
      <dgm:t>
        <a:bodyPr/>
        <a:lstStyle/>
        <a:p>
          <a:endParaRPr lang="en-US"/>
        </a:p>
      </dgm:t>
    </dgm:pt>
    <dgm:pt modelId="{6A74D0AE-9FDF-4226-9874-3D25DBD715B0}">
      <dgm:prSet/>
      <dgm:spPr/>
      <dgm:t>
        <a:bodyPr/>
        <a:lstStyle/>
        <a:p>
          <a:r>
            <a:rPr lang="en-US" b="1" i="0"/>
            <a:t>type:</a:t>
          </a:r>
          <a:r>
            <a:rPr lang="en-US" b="0" i="0"/>
            <a:t> Gives information about 2 different unique values one is TV Show and another is Movie</a:t>
          </a:r>
          <a:endParaRPr lang="en-US"/>
        </a:p>
      </dgm:t>
    </dgm:pt>
    <dgm:pt modelId="{4C563C26-9815-427E-B6A5-FB4672481856}" type="parTrans" cxnId="{51FB008C-0E46-4951-8A21-DFEC815780E8}">
      <dgm:prSet/>
      <dgm:spPr/>
      <dgm:t>
        <a:bodyPr/>
        <a:lstStyle/>
        <a:p>
          <a:endParaRPr lang="en-US"/>
        </a:p>
      </dgm:t>
    </dgm:pt>
    <dgm:pt modelId="{6C2CCA63-6496-4D93-A920-81688A429F1A}" type="sibTrans" cxnId="{51FB008C-0E46-4951-8A21-DFEC815780E8}">
      <dgm:prSet/>
      <dgm:spPr/>
      <dgm:t>
        <a:bodyPr/>
        <a:lstStyle/>
        <a:p>
          <a:endParaRPr lang="en-US"/>
        </a:p>
      </dgm:t>
    </dgm:pt>
    <dgm:pt modelId="{2BECDD07-F6AC-4284-B3EC-A32D0ACF1298}">
      <dgm:prSet/>
      <dgm:spPr/>
      <dgm:t>
        <a:bodyPr/>
        <a:lstStyle/>
        <a:p>
          <a:r>
            <a:rPr lang="en-US" b="1" i="0"/>
            <a:t>title:</a:t>
          </a:r>
          <a:r>
            <a:rPr lang="en-US" b="0" i="0"/>
            <a:t> Gives information about the title of Movie or TV Show</a:t>
          </a:r>
          <a:endParaRPr lang="en-US"/>
        </a:p>
      </dgm:t>
    </dgm:pt>
    <dgm:pt modelId="{34710536-4F5D-48DD-8BA5-F7F618B9864A}" type="parTrans" cxnId="{0ACD6503-4CD3-4C60-8C4B-CCE497C4EDD2}">
      <dgm:prSet/>
      <dgm:spPr/>
      <dgm:t>
        <a:bodyPr/>
        <a:lstStyle/>
        <a:p>
          <a:endParaRPr lang="en-US"/>
        </a:p>
      </dgm:t>
    </dgm:pt>
    <dgm:pt modelId="{861A8E5D-09F6-4BBB-817B-AEB88EB0D030}" type="sibTrans" cxnId="{0ACD6503-4CD3-4C60-8C4B-CCE497C4EDD2}">
      <dgm:prSet/>
      <dgm:spPr/>
      <dgm:t>
        <a:bodyPr/>
        <a:lstStyle/>
        <a:p>
          <a:endParaRPr lang="en-US"/>
        </a:p>
      </dgm:t>
    </dgm:pt>
    <dgm:pt modelId="{0AA4740C-3A57-49D4-9924-C10D26E8D830}">
      <dgm:prSet/>
      <dgm:spPr/>
      <dgm:t>
        <a:bodyPr/>
        <a:lstStyle/>
        <a:p>
          <a:r>
            <a:rPr lang="en-US" b="1" i="0"/>
            <a:t>director:</a:t>
          </a:r>
          <a:r>
            <a:rPr lang="en-US" b="0" i="0"/>
            <a:t> Gives information about the director who directed the Movie or TV Show</a:t>
          </a:r>
          <a:endParaRPr lang="en-US"/>
        </a:p>
      </dgm:t>
    </dgm:pt>
    <dgm:pt modelId="{092C1D3A-89EA-468E-8454-51871160285B}" type="parTrans" cxnId="{BE899B6D-DEDD-4269-BA7F-7BA46E860988}">
      <dgm:prSet/>
      <dgm:spPr/>
      <dgm:t>
        <a:bodyPr/>
        <a:lstStyle/>
        <a:p>
          <a:endParaRPr lang="en-US"/>
        </a:p>
      </dgm:t>
    </dgm:pt>
    <dgm:pt modelId="{B61F1330-B253-423A-8416-B3ECDB81F49F}" type="sibTrans" cxnId="{BE899B6D-DEDD-4269-BA7F-7BA46E860988}">
      <dgm:prSet/>
      <dgm:spPr/>
      <dgm:t>
        <a:bodyPr/>
        <a:lstStyle/>
        <a:p>
          <a:endParaRPr lang="en-US"/>
        </a:p>
      </dgm:t>
    </dgm:pt>
    <dgm:pt modelId="{9A17E4FC-7B96-436E-B86B-5C8DD0C118DE}">
      <dgm:prSet/>
      <dgm:spPr/>
      <dgm:t>
        <a:bodyPr/>
        <a:lstStyle/>
        <a:p>
          <a:r>
            <a:rPr lang="en-US" b="1" i="0"/>
            <a:t>cast:</a:t>
          </a:r>
          <a:r>
            <a:rPr lang="en-US" b="0" i="0"/>
            <a:t> Gives information about the cast who plays role in Movie or TV Show</a:t>
          </a:r>
          <a:endParaRPr lang="en-US"/>
        </a:p>
      </dgm:t>
    </dgm:pt>
    <dgm:pt modelId="{2595DBFF-64CF-4D1D-BB2C-03307F97CD8B}" type="parTrans" cxnId="{87541374-084A-486B-86CE-2D8A5D01640B}">
      <dgm:prSet/>
      <dgm:spPr/>
      <dgm:t>
        <a:bodyPr/>
        <a:lstStyle/>
        <a:p>
          <a:endParaRPr lang="en-US"/>
        </a:p>
      </dgm:t>
    </dgm:pt>
    <dgm:pt modelId="{8204EEC0-C2C3-4EF8-848B-762A91BB9D92}" type="sibTrans" cxnId="{87541374-084A-486B-86CE-2D8A5D01640B}">
      <dgm:prSet/>
      <dgm:spPr/>
      <dgm:t>
        <a:bodyPr/>
        <a:lstStyle/>
        <a:p>
          <a:endParaRPr lang="en-US"/>
        </a:p>
      </dgm:t>
    </dgm:pt>
    <dgm:pt modelId="{53042D52-75AF-4A6E-99C0-6CB9079263A7}">
      <dgm:prSet/>
      <dgm:spPr/>
      <dgm:t>
        <a:bodyPr/>
        <a:lstStyle/>
        <a:p>
          <a:r>
            <a:rPr lang="en-US" b="1" i="0"/>
            <a:t>release_year:</a:t>
          </a:r>
          <a:r>
            <a:rPr lang="en-US" b="0" i="0"/>
            <a:t> Gives information about the year when Movie or TV Show was released</a:t>
          </a:r>
          <a:endParaRPr lang="en-US"/>
        </a:p>
      </dgm:t>
    </dgm:pt>
    <dgm:pt modelId="{344DFD46-19AE-4233-81DD-DC6FF092DF82}" type="parTrans" cxnId="{678095E1-17B0-4D2A-8615-69ED4CDDE119}">
      <dgm:prSet/>
      <dgm:spPr/>
      <dgm:t>
        <a:bodyPr/>
        <a:lstStyle/>
        <a:p>
          <a:endParaRPr lang="en-US"/>
        </a:p>
      </dgm:t>
    </dgm:pt>
    <dgm:pt modelId="{3497E112-178C-452C-AF32-A3F7A73B4F37}" type="sibTrans" cxnId="{678095E1-17B0-4D2A-8615-69ED4CDDE119}">
      <dgm:prSet/>
      <dgm:spPr/>
      <dgm:t>
        <a:bodyPr/>
        <a:lstStyle/>
        <a:p>
          <a:endParaRPr lang="en-US"/>
        </a:p>
      </dgm:t>
    </dgm:pt>
    <dgm:pt modelId="{46258E97-B1ED-4D31-B686-A66EE434E3D7}">
      <dgm:prSet/>
      <dgm:spPr/>
      <dgm:t>
        <a:bodyPr/>
        <a:lstStyle/>
        <a:p>
          <a:r>
            <a:rPr lang="en-US" b="1" i="0"/>
            <a:t>date_added:</a:t>
          </a:r>
          <a:r>
            <a:rPr lang="en-US" b="0" i="0"/>
            <a:t> Gives information about the date when Movie or TV Show was added on Netflix</a:t>
          </a:r>
          <a:endParaRPr lang="en-US"/>
        </a:p>
      </dgm:t>
    </dgm:pt>
    <dgm:pt modelId="{70000A39-521A-4223-88AC-3F949A152186}" type="parTrans" cxnId="{56092D3D-48BA-4E8F-98BC-BD7F0F84AA2A}">
      <dgm:prSet/>
      <dgm:spPr/>
      <dgm:t>
        <a:bodyPr/>
        <a:lstStyle/>
        <a:p>
          <a:endParaRPr lang="en-US"/>
        </a:p>
      </dgm:t>
    </dgm:pt>
    <dgm:pt modelId="{C367D292-D041-4984-99DD-446C4C900985}" type="sibTrans" cxnId="{56092D3D-48BA-4E8F-98BC-BD7F0F84AA2A}">
      <dgm:prSet/>
      <dgm:spPr/>
      <dgm:t>
        <a:bodyPr/>
        <a:lstStyle/>
        <a:p>
          <a:endParaRPr lang="en-US"/>
        </a:p>
      </dgm:t>
    </dgm:pt>
    <dgm:pt modelId="{D224EAC6-4984-467E-963A-AEC6B5BE7D5B}">
      <dgm:prSet/>
      <dgm:spPr/>
      <dgm:t>
        <a:bodyPr/>
        <a:lstStyle/>
        <a:p>
          <a:r>
            <a:rPr lang="en-US" b="1" i="0"/>
            <a:t>rating:</a:t>
          </a:r>
          <a:r>
            <a:rPr lang="en-US" b="0" i="0"/>
            <a:t> Gives information about the Movie or TV Show are in which category (eg like the movies are only for students, or adults, etc)</a:t>
          </a:r>
          <a:endParaRPr lang="en-US"/>
        </a:p>
      </dgm:t>
    </dgm:pt>
    <dgm:pt modelId="{119BE8C7-DBA8-407C-A266-7B636ABC5F33}" type="parTrans" cxnId="{BD01DA80-2820-47CD-B780-D6C94161E353}">
      <dgm:prSet/>
      <dgm:spPr/>
      <dgm:t>
        <a:bodyPr/>
        <a:lstStyle/>
        <a:p>
          <a:endParaRPr lang="en-US"/>
        </a:p>
      </dgm:t>
    </dgm:pt>
    <dgm:pt modelId="{283D6763-AC81-4899-ABF5-28AA8D7AC920}" type="sibTrans" cxnId="{BD01DA80-2820-47CD-B780-D6C94161E353}">
      <dgm:prSet/>
      <dgm:spPr/>
      <dgm:t>
        <a:bodyPr/>
        <a:lstStyle/>
        <a:p>
          <a:endParaRPr lang="en-US"/>
        </a:p>
      </dgm:t>
    </dgm:pt>
    <dgm:pt modelId="{C5A36739-128B-4CEC-87A3-B90723ABCAD7}">
      <dgm:prSet/>
      <dgm:spPr/>
      <dgm:t>
        <a:bodyPr/>
        <a:lstStyle/>
        <a:p>
          <a:r>
            <a:rPr lang="en-US" b="1" i="0"/>
            <a:t>duration:</a:t>
          </a:r>
          <a:r>
            <a:rPr lang="en-US" b="0" i="0"/>
            <a:t> Gives information about the duration of Movie or TV Show</a:t>
          </a:r>
          <a:endParaRPr lang="en-US"/>
        </a:p>
      </dgm:t>
    </dgm:pt>
    <dgm:pt modelId="{6ABE8158-5AF4-423C-8F01-22CDDA68CCFB}" type="parTrans" cxnId="{D955BE6C-35FD-4ECE-8375-E6C531573566}">
      <dgm:prSet/>
      <dgm:spPr/>
      <dgm:t>
        <a:bodyPr/>
        <a:lstStyle/>
        <a:p>
          <a:endParaRPr lang="en-US"/>
        </a:p>
      </dgm:t>
    </dgm:pt>
    <dgm:pt modelId="{F27040BE-FFA4-4E29-96A3-0756367A06C3}" type="sibTrans" cxnId="{D955BE6C-35FD-4ECE-8375-E6C531573566}">
      <dgm:prSet/>
      <dgm:spPr/>
      <dgm:t>
        <a:bodyPr/>
        <a:lstStyle/>
        <a:p>
          <a:endParaRPr lang="en-US"/>
        </a:p>
      </dgm:t>
    </dgm:pt>
    <dgm:pt modelId="{FF36D75D-4A00-4485-B368-FBE7C87AF905}">
      <dgm:prSet/>
      <dgm:spPr/>
      <dgm:t>
        <a:bodyPr/>
        <a:lstStyle/>
        <a:p>
          <a:r>
            <a:rPr lang="en-US" b="1" i="0"/>
            <a:t>listed_in:</a:t>
          </a:r>
          <a:r>
            <a:rPr lang="en-US" b="0" i="0"/>
            <a:t> Gives information about the genre of Movie or TV Show</a:t>
          </a:r>
          <a:endParaRPr lang="en-US"/>
        </a:p>
      </dgm:t>
    </dgm:pt>
    <dgm:pt modelId="{5D54A30C-797B-458C-8580-6A4B1F3E3A1C}" type="parTrans" cxnId="{3ECFAA4A-F29D-4371-87D0-59A50A3F48CA}">
      <dgm:prSet/>
      <dgm:spPr/>
      <dgm:t>
        <a:bodyPr/>
        <a:lstStyle/>
        <a:p>
          <a:endParaRPr lang="en-US"/>
        </a:p>
      </dgm:t>
    </dgm:pt>
    <dgm:pt modelId="{2100820E-004A-4AD1-84A1-D69DD25A8C30}" type="sibTrans" cxnId="{3ECFAA4A-F29D-4371-87D0-59A50A3F48CA}">
      <dgm:prSet/>
      <dgm:spPr/>
      <dgm:t>
        <a:bodyPr/>
        <a:lstStyle/>
        <a:p>
          <a:endParaRPr lang="en-US"/>
        </a:p>
      </dgm:t>
    </dgm:pt>
    <dgm:pt modelId="{70FC61C7-EC07-489A-9FD0-7FA5BFFCC317}">
      <dgm:prSet/>
      <dgm:spPr/>
      <dgm:t>
        <a:bodyPr/>
        <a:lstStyle/>
        <a:p>
          <a:r>
            <a:rPr lang="en-US" b="1" i="0"/>
            <a:t>description:</a:t>
          </a:r>
          <a:r>
            <a:rPr lang="en-US" b="0" i="0"/>
            <a:t> Gives information about the description of Movie or TV Show</a:t>
          </a:r>
          <a:endParaRPr lang="en-US"/>
        </a:p>
      </dgm:t>
    </dgm:pt>
    <dgm:pt modelId="{696B7575-2C03-4207-8DBD-CD33286DB5F3}" type="parTrans" cxnId="{8136695F-DBF0-437B-8D79-1BABCCA03C79}">
      <dgm:prSet/>
      <dgm:spPr/>
      <dgm:t>
        <a:bodyPr/>
        <a:lstStyle/>
        <a:p>
          <a:endParaRPr lang="en-US"/>
        </a:p>
      </dgm:t>
    </dgm:pt>
    <dgm:pt modelId="{A8965EF0-6147-4793-9F63-D3768F3AD956}" type="sibTrans" cxnId="{8136695F-DBF0-437B-8D79-1BABCCA03C79}">
      <dgm:prSet/>
      <dgm:spPr/>
      <dgm:t>
        <a:bodyPr/>
        <a:lstStyle/>
        <a:p>
          <a:endParaRPr lang="en-US"/>
        </a:p>
      </dgm:t>
    </dgm:pt>
    <dgm:pt modelId="{9736EDCE-F1F8-4527-9377-0925DE14C5D8}">
      <dgm:prSet/>
      <dgm:spPr/>
      <dgm:t>
        <a:bodyPr/>
        <a:lstStyle/>
        <a:p>
          <a:r>
            <a:rPr lang="en-US" b="1"/>
            <a:t>Country:  </a:t>
          </a:r>
          <a:r>
            <a:rPr lang="en-US"/>
            <a:t>Country where the content is available to watch</a:t>
          </a:r>
        </a:p>
      </dgm:t>
    </dgm:pt>
    <dgm:pt modelId="{ED1DFF20-4FB9-4717-84A9-CE7F6F779AA8}" type="parTrans" cxnId="{16ECDF0D-D105-4A69-AD92-1EA186F3111A}">
      <dgm:prSet/>
      <dgm:spPr/>
      <dgm:t>
        <a:bodyPr/>
        <a:lstStyle/>
        <a:p>
          <a:endParaRPr lang="en-US"/>
        </a:p>
      </dgm:t>
    </dgm:pt>
    <dgm:pt modelId="{A0EA1B77-6CEB-4F21-B973-836A3CBD3340}" type="sibTrans" cxnId="{16ECDF0D-D105-4A69-AD92-1EA186F3111A}">
      <dgm:prSet/>
      <dgm:spPr/>
      <dgm:t>
        <a:bodyPr/>
        <a:lstStyle/>
        <a:p>
          <a:endParaRPr lang="en-US"/>
        </a:p>
      </dgm:t>
    </dgm:pt>
    <dgm:pt modelId="{B744E6CC-A27D-4AA7-A85E-88AA320837C3}" type="pres">
      <dgm:prSet presAssocID="{FDB2AB11-230D-4809-911C-AAF52D4AAE58}" presName="linear" presStyleCnt="0">
        <dgm:presLayoutVars>
          <dgm:animLvl val="lvl"/>
          <dgm:resizeHandles val="exact"/>
        </dgm:presLayoutVars>
      </dgm:prSet>
      <dgm:spPr/>
    </dgm:pt>
    <dgm:pt modelId="{1B66E15B-889D-4EC2-A1EC-9C293F40867C}" type="pres">
      <dgm:prSet presAssocID="{908ACC7E-2122-49DA-9AEE-4BB4AB23AEE0}" presName="parentText" presStyleLbl="node1" presStyleIdx="0" presStyleCnt="12">
        <dgm:presLayoutVars>
          <dgm:chMax val="0"/>
          <dgm:bulletEnabled val="1"/>
        </dgm:presLayoutVars>
      </dgm:prSet>
      <dgm:spPr/>
    </dgm:pt>
    <dgm:pt modelId="{3413ED96-652E-4B41-9A3C-2A2135501DE5}" type="pres">
      <dgm:prSet presAssocID="{AEC96655-191E-4057-ADDF-2BB1C47DA74F}" presName="spacer" presStyleCnt="0"/>
      <dgm:spPr/>
    </dgm:pt>
    <dgm:pt modelId="{8076517D-DCB2-4F71-856F-EBC1C3D984E9}" type="pres">
      <dgm:prSet presAssocID="{6A74D0AE-9FDF-4226-9874-3D25DBD715B0}" presName="parentText" presStyleLbl="node1" presStyleIdx="1" presStyleCnt="12">
        <dgm:presLayoutVars>
          <dgm:chMax val="0"/>
          <dgm:bulletEnabled val="1"/>
        </dgm:presLayoutVars>
      </dgm:prSet>
      <dgm:spPr/>
    </dgm:pt>
    <dgm:pt modelId="{C84FA488-B610-4320-BD58-CA007A01FAE3}" type="pres">
      <dgm:prSet presAssocID="{6C2CCA63-6496-4D93-A920-81688A429F1A}" presName="spacer" presStyleCnt="0"/>
      <dgm:spPr/>
    </dgm:pt>
    <dgm:pt modelId="{7FF3EDC4-8E81-448F-96E0-26E9AA2DCADB}" type="pres">
      <dgm:prSet presAssocID="{2BECDD07-F6AC-4284-B3EC-A32D0ACF1298}" presName="parentText" presStyleLbl="node1" presStyleIdx="2" presStyleCnt="12">
        <dgm:presLayoutVars>
          <dgm:chMax val="0"/>
          <dgm:bulletEnabled val="1"/>
        </dgm:presLayoutVars>
      </dgm:prSet>
      <dgm:spPr/>
    </dgm:pt>
    <dgm:pt modelId="{BAD33019-F1A2-4BAA-A85E-3999D02CD9F1}" type="pres">
      <dgm:prSet presAssocID="{861A8E5D-09F6-4BBB-817B-AEB88EB0D030}" presName="spacer" presStyleCnt="0"/>
      <dgm:spPr/>
    </dgm:pt>
    <dgm:pt modelId="{A2595CFC-8869-4561-8A89-960F5495FD4E}" type="pres">
      <dgm:prSet presAssocID="{0AA4740C-3A57-49D4-9924-C10D26E8D830}" presName="parentText" presStyleLbl="node1" presStyleIdx="3" presStyleCnt="12">
        <dgm:presLayoutVars>
          <dgm:chMax val="0"/>
          <dgm:bulletEnabled val="1"/>
        </dgm:presLayoutVars>
      </dgm:prSet>
      <dgm:spPr/>
    </dgm:pt>
    <dgm:pt modelId="{8A77587F-918B-40FB-AC05-45ABB4B3EBFC}" type="pres">
      <dgm:prSet presAssocID="{B61F1330-B253-423A-8416-B3ECDB81F49F}" presName="spacer" presStyleCnt="0"/>
      <dgm:spPr/>
    </dgm:pt>
    <dgm:pt modelId="{CE769A0B-15A0-48D2-857D-8A1EE249634B}" type="pres">
      <dgm:prSet presAssocID="{9A17E4FC-7B96-436E-B86B-5C8DD0C118DE}" presName="parentText" presStyleLbl="node1" presStyleIdx="4" presStyleCnt="12">
        <dgm:presLayoutVars>
          <dgm:chMax val="0"/>
          <dgm:bulletEnabled val="1"/>
        </dgm:presLayoutVars>
      </dgm:prSet>
      <dgm:spPr/>
    </dgm:pt>
    <dgm:pt modelId="{74F07F99-EABC-49F4-99B7-925A9C939944}" type="pres">
      <dgm:prSet presAssocID="{8204EEC0-C2C3-4EF8-848B-762A91BB9D92}" presName="spacer" presStyleCnt="0"/>
      <dgm:spPr/>
    </dgm:pt>
    <dgm:pt modelId="{B39ED142-9AA1-42D2-9460-4016CF72B4B2}" type="pres">
      <dgm:prSet presAssocID="{53042D52-75AF-4A6E-99C0-6CB9079263A7}" presName="parentText" presStyleLbl="node1" presStyleIdx="5" presStyleCnt="12">
        <dgm:presLayoutVars>
          <dgm:chMax val="0"/>
          <dgm:bulletEnabled val="1"/>
        </dgm:presLayoutVars>
      </dgm:prSet>
      <dgm:spPr/>
    </dgm:pt>
    <dgm:pt modelId="{B71831C2-9884-4A2A-90C8-FB9DB8F722FB}" type="pres">
      <dgm:prSet presAssocID="{3497E112-178C-452C-AF32-A3F7A73B4F37}" presName="spacer" presStyleCnt="0"/>
      <dgm:spPr/>
    </dgm:pt>
    <dgm:pt modelId="{1415B6DC-687C-4408-92F4-C254994BA851}" type="pres">
      <dgm:prSet presAssocID="{46258E97-B1ED-4D31-B686-A66EE434E3D7}" presName="parentText" presStyleLbl="node1" presStyleIdx="6" presStyleCnt="12">
        <dgm:presLayoutVars>
          <dgm:chMax val="0"/>
          <dgm:bulletEnabled val="1"/>
        </dgm:presLayoutVars>
      </dgm:prSet>
      <dgm:spPr/>
    </dgm:pt>
    <dgm:pt modelId="{BA640AF3-48E2-4D89-B33A-9433737989FC}" type="pres">
      <dgm:prSet presAssocID="{C367D292-D041-4984-99DD-446C4C900985}" presName="spacer" presStyleCnt="0"/>
      <dgm:spPr/>
    </dgm:pt>
    <dgm:pt modelId="{A030385E-20FC-407A-921B-4B06C4A74C8A}" type="pres">
      <dgm:prSet presAssocID="{D224EAC6-4984-467E-963A-AEC6B5BE7D5B}" presName="parentText" presStyleLbl="node1" presStyleIdx="7" presStyleCnt="12">
        <dgm:presLayoutVars>
          <dgm:chMax val="0"/>
          <dgm:bulletEnabled val="1"/>
        </dgm:presLayoutVars>
      </dgm:prSet>
      <dgm:spPr/>
    </dgm:pt>
    <dgm:pt modelId="{B3E948C0-9BE9-4E3D-B5A1-EF7BFF22DC2F}" type="pres">
      <dgm:prSet presAssocID="{283D6763-AC81-4899-ABF5-28AA8D7AC920}" presName="spacer" presStyleCnt="0"/>
      <dgm:spPr/>
    </dgm:pt>
    <dgm:pt modelId="{9B8DDFA3-D7C3-4C51-9957-62C44FDDBEC4}" type="pres">
      <dgm:prSet presAssocID="{C5A36739-128B-4CEC-87A3-B90723ABCAD7}" presName="parentText" presStyleLbl="node1" presStyleIdx="8" presStyleCnt="12">
        <dgm:presLayoutVars>
          <dgm:chMax val="0"/>
          <dgm:bulletEnabled val="1"/>
        </dgm:presLayoutVars>
      </dgm:prSet>
      <dgm:spPr/>
    </dgm:pt>
    <dgm:pt modelId="{A118E926-07A7-4BE4-8E39-0F2A2A2A4DA3}" type="pres">
      <dgm:prSet presAssocID="{F27040BE-FFA4-4E29-96A3-0756367A06C3}" presName="spacer" presStyleCnt="0"/>
      <dgm:spPr/>
    </dgm:pt>
    <dgm:pt modelId="{5E17C6AF-A265-442C-AB60-4812E7F7416C}" type="pres">
      <dgm:prSet presAssocID="{FF36D75D-4A00-4485-B368-FBE7C87AF905}" presName="parentText" presStyleLbl="node1" presStyleIdx="9" presStyleCnt="12">
        <dgm:presLayoutVars>
          <dgm:chMax val="0"/>
          <dgm:bulletEnabled val="1"/>
        </dgm:presLayoutVars>
      </dgm:prSet>
      <dgm:spPr/>
    </dgm:pt>
    <dgm:pt modelId="{2C954705-2B70-4788-82FC-1F660186EAB8}" type="pres">
      <dgm:prSet presAssocID="{2100820E-004A-4AD1-84A1-D69DD25A8C30}" presName="spacer" presStyleCnt="0"/>
      <dgm:spPr/>
    </dgm:pt>
    <dgm:pt modelId="{B89321F1-CFC4-461E-B042-75E8EFEADF6E}" type="pres">
      <dgm:prSet presAssocID="{70FC61C7-EC07-489A-9FD0-7FA5BFFCC317}" presName="parentText" presStyleLbl="node1" presStyleIdx="10" presStyleCnt="12">
        <dgm:presLayoutVars>
          <dgm:chMax val="0"/>
          <dgm:bulletEnabled val="1"/>
        </dgm:presLayoutVars>
      </dgm:prSet>
      <dgm:spPr/>
    </dgm:pt>
    <dgm:pt modelId="{C2C64F1B-ED44-4D0B-9471-D670C420D48E}" type="pres">
      <dgm:prSet presAssocID="{A8965EF0-6147-4793-9F63-D3768F3AD956}" presName="spacer" presStyleCnt="0"/>
      <dgm:spPr/>
    </dgm:pt>
    <dgm:pt modelId="{3B14B157-9EEF-49EF-B951-C51DDF80C8F7}" type="pres">
      <dgm:prSet presAssocID="{9736EDCE-F1F8-4527-9377-0925DE14C5D8}" presName="parentText" presStyleLbl="node1" presStyleIdx="11" presStyleCnt="12">
        <dgm:presLayoutVars>
          <dgm:chMax val="0"/>
          <dgm:bulletEnabled val="1"/>
        </dgm:presLayoutVars>
      </dgm:prSet>
      <dgm:spPr/>
    </dgm:pt>
  </dgm:ptLst>
  <dgm:cxnLst>
    <dgm:cxn modelId="{0ACD6503-4CD3-4C60-8C4B-CCE497C4EDD2}" srcId="{FDB2AB11-230D-4809-911C-AAF52D4AAE58}" destId="{2BECDD07-F6AC-4284-B3EC-A32D0ACF1298}" srcOrd="2" destOrd="0" parTransId="{34710536-4F5D-48DD-8BA5-F7F618B9864A}" sibTransId="{861A8E5D-09F6-4BBB-817B-AEB88EB0D030}"/>
    <dgm:cxn modelId="{16ECDF0D-D105-4A69-AD92-1EA186F3111A}" srcId="{FDB2AB11-230D-4809-911C-AAF52D4AAE58}" destId="{9736EDCE-F1F8-4527-9377-0925DE14C5D8}" srcOrd="11" destOrd="0" parTransId="{ED1DFF20-4FB9-4717-84A9-CE7F6F779AA8}" sibTransId="{A0EA1B77-6CEB-4F21-B973-836A3CBD3340}"/>
    <dgm:cxn modelId="{D1866122-4CC5-41DA-8466-CE0C5453F6FF}" type="presOf" srcId="{FDB2AB11-230D-4809-911C-AAF52D4AAE58}" destId="{B744E6CC-A27D-4AA7-A85E-88AA320837C3}" srcOrd="0" destOrd="0" presId="urn:microsoft.com/office/officeart/2005/8/layout/vList2"/>
    <dgm:cxn modelId="{A0E1A028-3B30-471A-A286-1C4A6A340F7D}" type="presOf" srcId="{2BECDD07-F6AC-4284-B3EC-A32D0ACF1298}" destId="{7FF3EDC4-8E81-448F-96E0-26E9AA2DCADB}" srcOrd="0" destOrd="0" presId="urn:microsoft.com/office/officeart/2005/8/layout/vList2"/>
    <dgm:cxn modelId="{7A6E2B2D-32F1-4A0B-A6CA-839CF36E6ABF}" type="presOf" srcId="{FF36D75D-4A00-4485-B368-FBE7C87AF905}" destId="{5E17C6AF-A265-442C-AB60-4812E7F7416C}" srcOrd="0" destOrd="0" presId="urn:microsoft.com/office/officeart/2005/8/layout/vList2"/>
    <dgm:cxn modelId="{AB3E2A38-FA00-4724-8FF4-C270CB1F48B8}" type="presOf" srcId="{9A17E4FC-7B96-436E-B86B-5C8DD0C118DE}" destId="{CE769A0B-15A0-48D2-857D-8A1EE249634B}" srcOrd="0" destOrd="0" presId="urn:microsoft.com/office/officeart/2005/8/layout/vList2"/>
    <dgm:cxn modelId="{1B10E53C-F4AB-4860-8C6D-1057EA097A5E}" type="presOf" srcId="{46258E97-B1ED-4D31-B686-A66EE434E3D7}" destId="{1415B6DC-687C-4408-92F4-C254994BA851}" srcOrd="0" destOrd="0" presId="urn:microsoft.com/office/officeart/2005/8/layout/vList2"/>
    <dgm:cxn modelId="{56092D3D-48BA-4E8F-98BC-BD7F0F84AA2A}" srcId="{FDB2AB11-230D-4809-911C-AAF52D4AAE58}" destId="{46258E97-B1ED-4D31-B686-A66EE434E3D7}" srcOrd="6" destOrd="0" parTransId="{70000A39-521A-4223-88AC-3F949A152186}" sibTransId="{C367D292-D041-4984-99DD-446C4C900985}"/>
    <dgm:cxn modelId="{8136695F-DBF0-437B-8D79-1BABCCA03C79}" srcId="{FDB2AB11-230D-4809-911C-AAF52D4AAE58}" destId="{70FC61C7-EC07-489A-9FD0-7FA5BFFCC317}" srcOrd="10" destOrd="0" parTransId="{696B7575-2C03-4207-8DBD-CD33286DB5F3}" sibTransId="{A8965EF0-6147-4793-9F63-D3768F3AD956}"/>
    <dgm:cxn modelId="{3ECFAA4A-F29D-4371-87D0-59A50A3F48CA}" srcId="{FDB2AB11-230D-4809-911C-AAF52D4AAE58}" destId="{FF36D75D-4A00-4485-B368-FBE7C87AF905}" srcOrd="9" destOrd="0" parTransId="{5D54A30C-797B-458C-8580-6A4B1F3E3A1C}" sibTransId="{2100820E-004A-4AD1-84A1-D69DD25A8C30}"/>
    <dgm:cxn modelId="{07993E6B-EE06-4D47-AF39-D3B4E82F8537}" srcId="{FDB2AB11-230D-4809-911C-AAF52D4AAE58}" destId="{908ACC7E-2122-49DA-9AEE-4BB4AB23AEE0}" srcOrd="0" destOrd="0" parTransId="{8365E053-2ECF-4673-A64F-010E1197E64F}" sibTransId="{AEC96655-191E-4057-ADDF-2BB1C47DA74F}"/>
    <dgm:cxn modelId="{D955BE6C-35FD-4ECE-8375-E6C531573566}" srcId="{FDB2AB11-230D-4809-911C-AAF52D4AAE58}" destId="{C5A36739-128B-4CEC-87A3-B90723ABCAD7}" srcOrd="8" destOrd="0" parTransId="{6ABE8158-5AF4-423C-8F01-22CDDA68CCFB}" sibTransId="{F27040BE-FFA4-4E29-96A3-0756367A06C3}"/>
    <dgm:cxn modelId="{BE899B6D-DEDD-4269-BA7F-7BA46E860988}" srcId="{FDB2AB11-230D-4809-911C-AAF52D4AAE58}" destId="{0AA4740C-3A57-49D4-9924-C10D26E8D830}" srcOrd="3" destOrd="0" parTransId="{092C1D3A-89EA-468E-8454-51871160285B}" sibTransId="{B61F1330-B253-423A-8416-B3ECDB81F49F}"/>
    <dgm:cxn modelId="{87541374-084A-486B-86CE-2D8A5D01640B}" srcId="{FDB2AB11-230D-4809-911C-AAF52D4AAE58}" destId="{9A17E4FC-7B96-436E-B86B-5C8DD0C118DE}" srcOrd="4" destOrd="0" parTransId="{2595DBFF-64CF-4D1D-BB2C-03307F97CD8B}" sibTransId="{8204EEC0-C2C3-4EF8-848B-762A91BB9D92}"/>
    <dgm:cxn modelId="{BD01DA80-2820-47CD-B780-D6C94161E353}" srcId="{FDB2AB11-230D-4809-911C-AAF52D4AAE58}" destId="{D224EAC6-4984-467E-963A-AEC6B5BE7D5B}" srcOrd="7" destOrd="0" parTransId="{119BE8C7-DBA8-407C-A266-7B636ABC5F33}" sibTransId="{283D6763-AC81-4899-ABF5-28AA8D7AC920}"/>
    <dgm:cxn modelId="{7C76E885-C3ED-4EEF-9472-E18EFC0B242A}" type="presOf" srcId="{53042D52-75AF-4A6E-99C0-6CB9079263A7}" destId="{B39ED142-9AA1-42D2-9460-4016CF72B4B2}" srcOrd="0" destOrd="0" presId="urn:microsoft.com/office/officeart/2005/8/layout/vList2"/>
    <dgm:cxn modelId="{51FB008C-0E46-4951-8A21-DFEC815780E8}" srcId="{FDB2AB11-230D-4809-911C-AAF52D4AAE58}" destId="{6A74D0AE-9FDF-4226-9874-3D25DBD715B0}" srcOrd="1" destOrd="0" parTransId="{4C563C26-9815-427E-B6A5-FB4672481856}" sibTransId="{6C2CCA63-6496-4D93-A920-81688A429F1A}"/>
    <dgm:cxn modelId="{543A5AA3-F7F9-494B-8856-3F930812BCE5}" type="presOf" srcId="{6A74D0AE-9FDF-4226-9874-3D25DBD715B0}" destId="{8076517D-DCB2-4F71-856F-EBC1C3D984E9}" srcOrd="0" destOrd="0" presId="urn:microsoft.com/office/officeart/2005/8/layout/vList2"/>
    <dgm:cxn modelId="{9C6200D1-F5F6-4CF0-AE01-E303498B0562}" type="presOf" srcId="{70FC61C7-EC07-489A-9FD0-7FA5BFFCC317}" destId="{B89321F1-CFC4-461E-B042-75E8EFEADF6E}" srcOrd="0" destOrd="0" presId="urn:microsoft.com/office/officeart/2005/8/layout/vList2"/>
    <dgm:cxn modelId="{70F433DF-198E-4D8C-9C63-B71C07CE24BE}" type="presOf" srcId="{C5A36739-128B-4CEC-87A3-B90723ABCAD7}" destId="{9B8DDFA3-D7C3-4C51-9957-62C44FDDBEC4}" srcOrd="0" destOrd="0" presId="urn:microsoft.com/office/officeart/2005/8/layout/vList2"/>
    <dgm:cxn modelId="{678095E1-17B0-4D2A-8615-69ED4CDDE119}" srcId="{FDB2AB11-230D-4809-911C-AAF52D4AAE58}" destId="{53042D52-75AF-4A6E-99C0-6CB9079263A7}" srcOrd="5" destOrd="0" parTransId="{344DFD46-19AE-4233-81DD-DC6FF092DF82}" sibTransId="{3497E112-178C-452C-AF32-A3F7A73B4F37}"/>
    <dgm:cxn modelId="{380CFBE7-4475-4C5C-AEFB-70A782251E50}" type="presOf" srcId="{0AA4740C-3A57-49D4-9924-C10D26E8D830}" destId="{A2595CFC-8869-4561-8A89-960F5495FD4E}" srcOrd="0" destOrd="0" presId="urn:microsoft.com/office/officeart/2005/8/layout/vList2"/>
    <dgm:cxn modelId="{41F28DE9-E8C2-4310-A691-7557F01E8AC2}" type="presOf" srcId="{908ACC7E-2122-49DA-9AEE-4BB4AB23AEE0}" destId="{1B66E15B-889D-4EC2-A1EC-9C293F40867C}" srcOrd="0" destOrd="0" presId="urn:microsoft.com/office/officeart/2005/8/layout/vList2"/>
    <dgm:cxn modelId="{74CD9CEA-4D91-42BA-B3C1-60DA362D2C7F}" type="presOf" srcId="{9736EDCE-F1F8-4527-9377-0925DE14C5D8}" destId="{3B14B157-9EEF-49EF-B951-C51DDF80C8F7}" srcOrd="0" destOrd="0" presId="urn:microsoft.com/office/officeart/2005/8/layout/vList2"/>
    <dgm:cxn modelId="{B2B308F7-5882-47E2-A030-38F845902A7A}" type="presOf" srcId="{D224EAC6-4984-467E-963A-AEC6B5BE7D5B}" destId="{A030385E-20FC-407A-921B-4B06C4A74C8A}" srcOrd="0" destOrd="0" presId="urn:microsoft.com/office/officeart/2005/8/layout/vList2"/>
    <dgm:cxn modelId="{2B1F35A2-9F79-4F60-B735-ED5EF899B4E9}" type="presParOf" srcId="{B744E6CC-A27D-4AA7-A85E-88AA320837C3}" destId="{1B66E15B-889D-4EC2-A1EC-9C293F40867C}" srcOrd="0" destOrd="0" presId="urn:microsoft.com/office/officeart/2005/8/layout/vList2"/>
    <dgm:cxn modelId="{C09F679D-4FCC-4364-A752-AD00AA517C00}" type="presParOf" srcId="{B744E6CC-A27D-4AA7-A85E-88AA320837C3}" destId="{3413ED96-652E-4B41-9A3C-2A2135501DE5}" srcOrd="1" destOrd="0" presId="urn:microsoft.com/office/officeart/2005/8/layout/vList2"/>
    <dgm:cxn modelId="{98AE3D66-420E-4E59-9D1B-D07BB0B0F5CE}" type="presParOf" srcId="{B744E6CC-A27D-4AA7-A85E-88AA320837C3}" destId="{8076517D-DCB2-4F71-856F-EBC1C3D984E9}" srcOrd="2" destOrd="0" presId="urn:microsoft.com/office/officeart/2005/8/layout/vList2"/>
    <dgm:cxn modelId="{F3C535EC-1EF1-4317-AB0A-96677CFAAF13}" type="presParOf" srcId="{B744E6CC-A27D-4AA7-A85E-88AA320837C3}" destId="{C84FA488-B610-4320-BD58-CA007A01FAE3}" srcOrd="3" destOrd="0" presId="urn:microsoft.com/office/officeart/2005/8/layout/vList2"/>
    <dgm:cxn modelId="{A43D7F53-A651-49F5-BC73-3A39AAAD45F4}" type="presParOf" srcId="{B744E6CC-A27D-4AA7-A85E-88AA320837C3}" destId="{7FF3EDC4-8E81-448F-96E0-26E9AA2DCADB}" srcOrd="4" destOrd="0" presId="urn:microsoft.com/office/officeart/2005/8/layout/vList2"/>
    <dgm:cxn modelId="{4EA1B84A-6DB8-4063-AC41-4BB8B659A4FF}" type="presParOf" srcId="{B744E6CC-A27D-4AA7-A85E-88AA320837C3}" destId="{BAD33019-F1A2-4BAA-A85E-3999D02CD9F1}" srcOrd="5" destOrd="0" presId="urn:microsoft.com/office/officeart/2005/8/layout/vList2"/>
    <dgm:cxn modelId="{E4A958B7-0507-4804-B5C5-7175B022148F}" type="presParOf" srcId="{B744E6CC-A27D-4AA7-A85E-88AA320837C3}" destId="{A2595CFC-8869-4561-8A89-960F5495FD4E}" srcOrd="6" destOrd="0" presId="urn:microsoft.com/office/officeart/2005/8/layout/vList2"/>
    <dgm:cxn modelId="{E9549DA0-EC5F-4974-BAD8-755ADF225239}" type="presParOf" srcId="{B744E6CC-A27D-4AA7-A85E-88AA320837C3}" destId="{8A77587F-918B-40FB-AC05-45ABB4B3EBFC}" srcOrd="7" destOrd="0" presId="urn:microsoft.com/office/officeart/2005/8/layout/vList2"/>
    <dgm:cxn modelId="{53A9C79E-9EFF-463F-B6C8-D4D58E3CE7D6}" type="presParOf" srcId="{B744E6CC-A27D-4AA7-A85E-88AA320837C3}" destId="{CE769A0B-15A0-48D2-857D-8A1EE249634B}" srcOrd="8" destOrd="0" presId="urn:microsoft.com/office/officeart/2005/8/layout/vList2"/>
    <dgm:cxn modelId="{445FC4F4-7AE9-4049-B9DB-834D78E27F83}" type="presParOf" srcId="{B744E6CC-A27D-4AA7-A85E-88AA320837C3}" destId="{74F07F99-EABC-49F4-99B7-925A9C939944}" srcOrd="9" destOrd="0" presId="urn:microsoft.com/office/officeart/2005/8/layout/vList2"/>
    <dgm:cxn modelId="{42B4C735-19C2-4251-B0C8-60FF26DA8A56}" type="presParOf" srcId="{B744E6CC-A27D-4AA7-A85E-88AA320837C3}" destId="{B39ED142-9AA1-42D2-9460-4016CF72B4B2}" srcOrd="10" destOrd="0" presId="urn:microsoft.com/office/officeart/2005/8/layout/vList2"/>
    <dgm:cxn modelId="{EE75D3EA-AABA-4562-80C0-A26861F272DA}" type="presParOf" srcId="{B744E6CC-A27D-4AA7-A85E-88AA320837C3}" destId="{B71831C2-9884-4A2A-90C8-FB9DB8F722FB}" srcOrd="11" destOrd="0" presId="urn:microsoft.com/office/officeart/2005/8/layout/vList2"/>
    <dgm:cxn modelId="{1FEFA0B2-57AD-4C52-A13F-F25D73576849}" type="presParOf" srcId="{B744E6CC-A27D-4AA7-A85E-88AA320837C3}" destId="{1415B6DC-687C-4408-92F4-C254994BA851}" srcOrd="12" destOrd="0" presId="urn:microsoft.com/office/officeart/2005/8/layout/vList2"/>
    <dgm:cxn modelId="{B9D0C9B4-F455-4DA7-9D0A-AEF04A5126FD}" type="presParOf" srcId="{B744E6CC-A27D-4AA7-A85E-88AA320837C3}" destId="{BA640AF3-48E2-4D89-B33A-9433737989FC}" srcOrd="13" destOrd="0" presId="urn:microsoft.com/office/officeart/2005/8/layout/vList2"/>
    <dgm:cxn modelId="{27F388A1-7967-473C-B504-A70D05FC2E78}" type="presParOf" srcId="{B744E6CC-A27D-4AA7-A85E-88AA320837C3}" destId="{A030385E-20FC-407A-921B-4B06C4A74C8A}" srcOrd="14" destOrd="0" presId="urn:microsoft.com/office/officeart/2005/8/layout/vList2"/>
    <dgm:cxn modelId="{D3110E6C-8FBE-4DB6-8845-AF1C27998CF5}" type="presParOf" srcId="{B744E6CC-A27D-4AA7-A85E-88AA320837C3}" destId="{B3E948C0-9BE9-4E3D-B5A1-EF7BFF22DC2F}" srcOrd="15" destOrd="0" presId="urn:microsoft.com/office/officeart/2005/8/layout/vList2"/>
    <dgm:cxn modelId="{010A6CCA-7C29-4B6E-9050-1E0D8DE18F88}" type="presParOf" srcId="{B744E6CC-A27D-4AA7-A85E-88AA320837C3}" destId="{9B8DDFA3-D7C3-4C51-9957-62C44FDDBEC4}" srcOrd="16" destOrd="0" presId="urn:microsoft.com/office/officeart/2005/8/layout/vList2"/>
    <dgm:cxn modelId="{F4C73C7E-4682-421C-8DBB-3B032347A978}" type="presParOf" srcId="{B744E6CC-A27D-4AA7-A85E-88AA320837C3}" destId="{A118E926-07A7-4BE4-8E39-0F2A2A2A4DA3}" srcOrd="17" destOrd="0" presId="urn:microsoft.com/office/officeart/2005/8/layout/vList2"/>
    <dgm:cxn modelId="{023AEDE4-0FF4-4A2E-9E4A-E461C48845CC}" type="presParOf" srcId="{B744E6CC-A27D-4AA7-A85E-88AA320837C3}" destId="{5E17C6AF-A265-442C-AB60-4812E7F7416C}" srcOrd="18" destOrd="0" presId="urn:microsoft.com/office/officeart/2005/8/layout/vList2"/>
    <dgm:cxn modelId="{BABA8BBB-1C16-487E-8E4B-66FE204E4DC1}" type="presParOf" srcId="{B744E6CC-A27D-4AA7-A85E-88AA320837C3}" destId="{2C954705-2B70-4788-82FC-1F660186EAB8}" srcOrd="19" destOrd="0" presId="urn:microsoft.com/office/officeart/2005/8/layout/vList2"/>
    <dgm:cxn modelId="{FC2B5379-9001-48C8-A7C6-2898339E6672}" type="presParOf" srcId="{B744E6CC-A27D-4AA7-A85E-88AA320837C3}" destId="{B89321F1-CFC4-461E-B042-75E8EFEADF6E}" srcOrd="20" destOrd="0" presId="urn:microsoft.com/office/officeart/2005/8/layout/vList2"/>
    <dgm:cxn modelId="{F1879241-7A4C-4D0E-A226-30A0D97B8AE1}" type="presParOf" srcId="{B744E6CC-A27D-4AA7-A85E-88AA320837C3}" destId="{C2C64F1B-ED44-4D0B-9471-D670C420D48E}" srcOrd="21" destOrd="0" presId="urn:microsoft.com/office/officeart/2005/8/layout/vList2"/>
    <dgm:cxn modelId="{9BADF651-B7A5-4252-966B-72ECFB2B59D6}" type="presParOf" srcId="{B744E6CC-A27D-4AA7-A85E-88AA320837C3}" destId="{3B14B157-9EEF-49EF-B951-C51DDF80C8F7}" srcOrd="2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6271A53-BE32-4A4E-9711-3283D8F9E291}"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7C79F7A1-EC98-4338-9986-708A43CFA4D6}">
      <dgm:prSet/>
      <dgm:spPr/>
      <dgm:t>
        <a:bodyPr/>
        <a:lstStyle/>
        <a:p>
          <a:r>
            <a:rPr lang="en-US" b="0" i="0"/>
            <a:t>We have derived 2 </a:t>
          </a:r>
          <a:r>
            <a:rPr lang="en-US"/>
            <a:t>fields from date_added variable for analysis</a:t>
          </a:r>
        </a:p>
      </dgm:t>
    </dgm:pt>
    <dgm:pt modelId="{E835D774-B4BD-4C49-8AA6-424E38801FBF}" type="parTrans" cxnId="{81ADF130-204D-4F33-80DD-68B2F7618BCB}">
      <dgm:prSet/>
      <dgm:spPr/>
      <dgm:t>
        <a:bodyPr/>
        <a:lstStyle/>
        <a:p>
          <a:endParaRPr lang="en-US"/>
        </a:p>
      </dgm:t>
    </dgm:pt>
    <dgm:pt modelId="{DEFBEC96-8CB1-49E5-81BF-DAF3A787AF02}" type="sibTrans" cxnId="{81ADF130-204D-4F33-80DD-68B2F7618BCB}">
      <dgm:prSet/>
      <dgm:spPr/>
      <dgm:t>
        <a:bodyPr/>
        <a:lstStyle/>
        <a:p>
          <a:endParaRPr lang="en-US"/>
        </a:p>
      </dgm:t>
    </dgm:pt>
    <dgm:pt modelId="{23EDC16C-B020-4004-8F04-E2721DE6A3FB}">
      <dgm:prSet/>
      <dgm:spPr/>
      <dgm:t>
        <a:bodyPr/>
        <a:lstStyle/>
        <a:p>
          <a:r>
            <a:rPr lang="en-US" b="1"/>
            <a:t>year</a:t>
          </a:r>
          <a:r>
            <a:rPr lang="en-US" b="1" i="0"/>
            <a:t>_added:</a:t>
          </a:r>
          <a:r>
            <a:rPr lang="en-US" b="0" i="0"/>
            <a:t> Gives information about the year when Movie or TV Show was added on Netflix</a:t>
          </a:r>
          <a:endParaRPr lang="en-US"/>
        </a:p>
      </dgm:t>
    </dgm:pt>
    <dgm:pt modelId="{799DF70F-F3BF-49F8-9894-7305516062A0}" type="parTrans" cxnId="{176FA0DC-287B-4DB6-A4EE-032D5DFE37B5}">
      <dgm:prSet/>
      <dgm:spPr/>
      <dgm:t>
        <a:bodyPr/>
        <a:lstStyle/>
        <a:p>
          <a:endParaRPr lang="en-US"/>
        </a:p>
      </dgm:t>
    </dgm:pt>
    <dgm:pt modelId="{DCF24735-8EF1-4630-B988-1F0AA6DBF6D3}" type="sibTrans" cxnId="{176FA0DC-287B-4DB6-A4EE-032D5DFE37B5}">
      <dgm:prSet/>
      <dgm:spPr/>
      <dgm:t>
        <a:bodyPr/>
        <a:lstStyle/>
        <a:p>
          <a:endParaRPr lang="en-US"/>
        </a:p>
      </dgm:t>
    </dgm:pt>
    <dgm:pt modelId="{57AE9E95-10E1-43C5-9267-0A641732BAFA}">
      <dgm:prSet/>
      <dgm:spPr/>
      <dgm:t>
        <a:bodyPr/>
        <a:lstStyle/>
        <a:p>
          <a:r>
            <a:rPr lang="en-US" b="1" dirty="0" err="1"/>
            <a:t>month</a:t>
          </a:r>
          <a:r>
            <a:rPr lang="en-US" b="1" i="0" dirty="0" err="1"/>
            <a:t>_added</a:t>
          </a:r>
          <a:r>
            <a:rPr lang="en-US" b="1" i="0" dirty="0"/>
            <a:t>:</a:t>
          </a:r>
          <a:r>
            <a:rPr lang="en-US" b="0" i="0" dirty="0"/>
            <a:t> Gives information about the month when Movie or TV Show was added on Netflix</a:t>
          </a:r>
          <a:endParaRPr lang="en-US" dirty="0"/>
        </a:p>
      </dgm:t>
    </dgm:pt>
    <dgm:pt modelId="{215C6188-6AC6-4982-BBFD-188834E12F34}" type="parTrans" cxnId="{5B06D0F5-5C75-435E-921B-D89F0CC17DAD}">
      <dgm:prSet/>
      <dgm:spPr/>
      <dgm:t>
        <a:bodyPr/>
        <a:lstStyle/>
        <a:p>
          <a:endParaRPr lang="en-US"/>
        </a:p>
      </dgm:t>
    </dgm:pt>
    <dgm:pt modelId="{1EFB6D65-9A55-46BB-A075-513BB23B8F7C}" type="sibTrans" cxnId="{5B06D0F5-5C75-435E-921B-D89F0CC17DAD}">
      <dgm:prSet/>
      <dgm:spPr/>
      <dgm:t>
        <a:bodyPr/>
        <a:lstStyle/>
        <a:p>
          <a:endParaRPr lang="en-US"/>
        </a:p>
      </dgm:t>
    </dgm:pt>
    <dgm:pt modelId="{E11C55A2-3C54-4218-B7AA-8D90CFC631CA}" type="pres">
      <dgm:prSet presAssocID="{66271A53-BE32-4A4E-9711-3283D8F9E291}" presName="linear" presStyleCnt="0">
        <dgm:presLayoutVars>
          <dgm:animLvl val="lvl"/>
          <dgm:resizeHandles val="exact"/>
        </dgm:presLayoutVars>
      </dgm:prSet>
      <dgm:spPr/>
    </dgm:pt>
    <dgm:pt modelId="{CF1F5B3A-50A5-48D3-A2D2-C321535DC72A}" type="pres">
      <dgm:prSet presAssocID="{7C79F7A1-EC98-4338-9986-708A43CFA4D6}" presName="parentText" presStyleLbl="node1" presStyleIdx="0" presStyleCnt="3">
        <dgm:presLayoutVars>
          <dgm:chMax val="0"/>
          <dgm:bulletEnabled val="1"/>
        </dgm:presLayoutVars>
      </dgm:prSet>
      <dgm:spPr/>
    </dgm:pt>
    <dgm:pt modelId="{68C13707-180F-4C3C-BC51-55D127E7004E}" type="pres">
      <dgm:prSet presAssocID="{DEFBEC96-8CB1-49E5-81BF-DAF3A787AF02}" presName="spacer" presStyleCnt="0"/>
      <dgm:spPr/>
    </dgm:pt>
    <dgm:pt modelId="{F7CC8CCD-5439-4BBA-9FF7-14BF9D0339F1}" type="pres">
      <dgm:prSet presAssocID="{23EDC16C-B020-4004-8F04-E2721DE6A3FB}" presName="parentText" presStyleLbl="node1" presStyleIdx="1" presStyleCnt="3">
        <dgm:presLayoutVars>
          <dgm:chMax val="0"/>
          <dgm:bulletEnabled val="1"/>
        </dgm:presLayoutVars>
      </dgm:prSet>
      <dgm:spPr/>
    </dgm:pt>
    <dgm:pt modelId="{0E5073C9-A059-4E71-95E7-1C1A78D84FDC}" type="pres">
      <dgm:prSet presAssocID="{DCF24735-8EF1-4630-B988-1F0AA6DBF6D3}" presName="spacer" presStyleCnt="0"/>
      <dgm:spPr/>
    </dgm:pt>
    <dgm:pt modelId="{1596BB66-27BA-40B0-BDCE-53EE57B81018}" type="pres">
      <dgm:prSet presAssocID="{57AE9E95-10E1-43C5-9267-0A641732BAFA}" presName="parentText" presStyleLbl="node1" presStyleIdx="2" presStyleCnt="3">
        <dgm:presLayoutVars>
          <dgm:chMax val="0"/>
          <dgm:bulletEnabled val="1"/>
        </dgm:presLayoutVars>
      </dgm:prSet>
      <dgm:spPr/>
    </dgm:pt>
  </dgm:ptLst>
  <dgm:cxnLst>
    <dgm:cxn modelId="{17DCA623-68DD-46FE-AC0A-6C3E252AB1EC}" type="presOf" srcId="{23EDC16C-B020-4004-8F04-E2721DE6A3FB}" destId="{F7CC8CCD-5439-4BBA-9FF7-14BF9D0339F1}" srcOrd="0" destOrd="0" presId="urn:microsoft.com/office/officeart/2005/8/layout/vList2"/>
    <dgm:cxn modelId="{81ADF130-204D-4F33-80DD-68B2F7618BCB}" srcId="{66271A53-BE32-4A4E-9711-3283D8F9E291}" destId="{7C79F7A1-EC98-4338-9986-708A43CFA4D6}" srcOrd="0" destOrd="0" parTransId="{E835D774-B4BD-4C49-8AA6-424E38801FBF}" sibTransId="{DEFBEC96-8CB1-49E5-81BF-DAF3A787AF02}"/>
    <dgm:cxn modelId="{0515543D-1015-408F-90AF-CFAB6984317C}" type="presOf" srcId="{7C79F7A1-EC98-4338-9986-708A43CFA4D6}" destId="{CF1F5B3A-50A5-48D3-A2D2-C321535DC72A}" srcOrd="0" destOrd="0" presId="urn:microsoft.com/office/officeart/2005/8/layout/vList2"/>
    <dgm:cxn modelId="{2E5FC6D5-6D04-4F23-A8C0-742A42C1F701}" type="presOf" srcId="{57AE9E95-10E1-43C5-9267-0A641732BAFA}" destId="{1596BB66-27BA-40B0-BDCE-53EE57B81018}" srcOrd="0" destOrd="0" presId="urn:microsoft.com/office/officeart/2005/8/layout/vList2"/>
    <dgm:cxn modelId="{176FA0DC-287B-4DB6-A4EE-032D5DFE37B5}" srcId="{66271A53-BE32-4A4E-9711-3283D8F9E291}" destId="{23EDC16C-B020-4004-8F04-E2721DE6A3FB}" srcOrd="1" destOrd="0" parTransId="{799DF70F-F3BF-49F8-9894-7305516062A0}" sibTransId="{DCF24735-8EF1-4630-B988-1F0AA6DBF6D3}"/>
    <dgm:cxn modelId="{D2A845EE-E088-44E7-9A0B-DEBF60D91139}" type="presOf" srcId="{66271A53-BE32-4A4E-9711-3283D8F9E291}" destId="{E11C55A2-3C54-4218-B7AA-8D90CFC631CA}" srcOrd="0" destOrd="0" presId="urn:microsoft.com/office/officeart/2005/8/layout/vList2"/>
    <dgm:cxn modelId="{5B06D0F5-5C75-435E-921B-D89F0CC17DAD}" srcId="{66271A53-BE32-4A4E-9711-3283D8F9E291}" destId="{57AE9E95-10E1-43C5-9267-0A641732BAFA}" srcOrd="2" destOrd="0" parTransId="{215C6188-6AC6-4982-BBFD-188834E12F34}" sibTransId="{1EFB6D65-9A55-46BB-A075-513BB23B8F7C}"/>
    <dgm:cxn modelId="{83B33D21-91F8-42F7-B125-E61B0C1FF356}" type="presParOf" srcId="{E11C55A2-3C54-4218-B7AA-8D90CFC631CA}" destId="{CF1F5B3A-50A5-48D3-A2D2-C321535DC72A}" srcOrd="0" destOrd="0" presId="urn:microsoft.com/office/officeart/2005/8/layout/vList2"/>
    <dgm:cxn modelId="{13C00D34-0284-4756-AF9C-221B90F9743E}" type="presParOf" srcId="{E11C55A2-3C54-4218-B7AA-8D90CFC631CA}" destId="{68C13707-180F-4C3C-BC51-55D127E7004E}" srcOrd="1" destOrd="0" presId="urn:microsoft.com/office/officeart/2005/8/layout/vList2"/>
    <dgm:cxn modelId="{A659926F-046F-4295-A250-98A7F2261798}" type="presParOf" srcId="{E11C55A2-3C54-4218-B7AA-8D90CFC631CA}" destId="{F7CC8CCD-5439-4BBA-9FF7-14BF9D0339F1}" srcOrd="2" destOrd="0" presId="urn:microsoft.com/office/officeart/2005/8/layout/vList2"/>
    <dgm:cxn modelId="{93B9E5AF-8CA4-4AAC-AE9D-8D25AEF955B1}" type="presParOf" srcId="{E11C55A2-3C54-4218-B7AA-8D90CFC631CA}" destId="{0E5073C9-A059-4E71-95E7-1C1A78D84FDC}" srcOrd="3" destOrd="0" presId="urn:microsoft.com/office/officeart/2005/8/layout/vList2"/>
    <dgm:cxn modelId="{4E340ED8-0349-4B2F-B1BA-B0D38773B486}" type="presParOf" srcId="{E11C55A2-3C54-4218-B7AA-8D90CFC631CA}" destId="{1596BB66-27BA-40B0-BDCE-53EE57B8101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5BE029-6776-49AD-AEC7-B9DC582F1463}">
      <dsp:nvSpPr>
        <dsp:cNvPr id="0" name=""/>
        <dsp:cNvSpPr/>
      </dsp:nvSpPr>
      <dsp:spPr>
        <a:xfrm>
          <a:off x="8137" y="340725"/>
          <a:ext cx="888502" cy="88850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4E8EEE-B4CC-4A7D-AE98-94E076AB3E3A}">
      <dsp:nvSpPr>
        <dsp:cNvPr id="0" name=""/>
        <dsp:cNvSpPr/>
      </dsp:nvSpPr>
      <dsp:spPr>
        <a:xfrm>
          <a:off x="194722" y="527311"/>
          <a:ext cx="515331" cy="5153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51F5C21-9919-46B2-AB29-9969A446A17E}">
      <dsp:nvSpPr>
        <dsp:cNvPr id="0" name=""/>
        <dsp:cNvSpPr/>
      </dsp:nvSpPr>
      <dsp:spPr>
        <a:xfrm>
          <a:off x="1087033" y="340725"/>
          <a:ext cx="2094327" cy="888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i="0" kern="1200"/>
            <a:t>Description of Dataset</a:t>
          </a:r>
          <a:endParaRPr lang="en-US" sz="2400" kern="1200"/>
        </a:p>
      </dsp:txBody>
      <dsp:txXfrm>
        <a:off x="1087033" y="340725"/>
        <a:ext cx="2094327" cy="888502"/>
      </dsp:txXfrm>
    </dsp:sp>
    <dsp:sp modelId="{410C686F-316F-42BB-8C78-F94A97B8B7C9}">
      <dsp:nvSpPr>
        <dsp:cNvPr id="0" name=""/>
        <dsp:cNvSpPr/>
      </dsp:nvSpPr>
      <dsp:spPr>
        <a:xfrm>
          <a:off x="3546281" y="340725"/>
          <a:ext cx="888502" cy="88850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084789-9FCA-4F5B-8CC7-ACFA920E25CB}">
      <dsp:nvSpPr>
        <dsp:cNvPr id="0" name=""/>
        <dsp:cNvSpPr/>
      </dsp:nvSpPr>
      <dsp:spPr>
        <a:xfrm>
          <a:off x="3732866" y="527311"/>
          <a:ext cx="515331" cy="5153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D1A8F3F-3A79-40BA-B8D5-5AF03CD1B7B4}">
      <dsp:nvSpPr>
        <dsp:cNvPr id="0" name=""/>
        <dsp:cNvSpPr/>
      </dsp:nvSpPr>
      <dsp:spPr>
        <a:xfrm>
          <a:off x="4625177" y="340725"/>
          <a:ext cx="2094327" cy="888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Business questions</a:t>
          </a:r>
        </a:p>
      </dsp:txBody>
      <dsp:txXfrm>
        <a:off x="4625177" y="340725"/>
        <a:ext cx="2094327" cy="888502"/>
      </dsp:txXfrm>
    </dsp:sp>
    <dsp:sp modelId="{3ED10A50-EC53-4432-B21D-7F864E09E985}">
      <dsp:nvSpPr>
        <dsp:cNvPr id="0" name=""/>
        <dsp:cNvSpPr/>
      </dsp:nvSpPr>
      <dsp:spPr>
        <a:xfrm>
          <a:off x="7084425" y="340725"/>
          <a:ext cx="888502" cy="88850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E52820-5F1C-41C0-B0FE-3F6C3E044FE9}">
      <dsp:nvSpPr>
        <dsp:cNvPr id="0" name=""/>
        <dsp:cNvSpPr/>
      </dsp:nvSpPr>
      <dsp:spPr>
        <a:xfrm>
          <a:off x="7271010" y="527311"/>
          <a:ext cx="515331" cy="5153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00351E3-35D4-40B3-AAA7-4BD6F07F21A0}">
      <dsp:nvSpPr>
        <dsp:cNvPr id="0" name=""/>
        <dsp:cNvSpPr/>
      </dsp:nvSpPr>
      <dsp:spPr>
        <a:xfrm>
          <a:off x="8163321" y="340725"/>
          <a:ext cx="2094327" cy="888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i="0" kern="1200"/>
            <a:t>Data Exploration</a:t>
          </a:r>
          <a:endParaRPr lang="en-US" sz="2400" kern="1200"/>
        </a:p>
      </dsp:txBody>
      <dsp:txXfrm>
        <a:off x="8163321" y="340725"/>
        <a:ext cx="2094327" cy="888502"/>
      </dsp:txXfrm>
    </dsp:sp>
    <dsp:sp modelId="{D62765C5-9EBE-48C8-ABA0-4A2E4167914C}">
      <dsp:nvSpPr>
        <dsp:cNvPr id="0" name=""/>
        <dsp:cNvSpPr/>
      </dsp:nvSpPr>
      <dsp:spPr>
        <a:xfrm>
          <a:off x="8137" y="1732767"/>
          <a:ext cx="888502" cy="88850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8543B8-215C-4D34-AD23-D140C7EFD8B2}">
      <dsp:nvSpPr>
        <dsp:cNvPr id="0" name=""/>
        <dsp:cNvSpPr/>
      </dsp:nvSpPr>
      <dsp:spPr>
        <a:xfrm>
          <a:off x="194722" y="1919353"/>
          <a:ext cx="515331" cy="5153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AF18A29-9831-4481-88C8-87BDFF2C91FB}">
      <dsp:nvSpPr>
        <dsp:cNvPr id="0" name=""/>
        <dsp:cNvSpPr/>
      </dsp:nvSpPr>
      <dsp:spPr>
        <a:xfrm>
          <a:off x="1087033" y="1732767"/>
          <a:ext cx="2094327" cy="888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i="0" kern="1200"/>
            <a:t>Data Cleaning</a:t>
          </a:r>
          <a:endParaRPr lang="en-US" sz="2400" kern="1200"/>
        </a:p>
      </dsp:txBody>
      <dsp:txXfrm>
        <a:off x="1087033" y="1732767"/>
        <a:ext cx="2094327" cy="888502"/>
      </dsp:txXfrm>
    </dsp:sp>
    <dsp:sp modelId="{E256345B-0A42-47AB-B638-3565D2DE0A42}">
      <dsp:nvSpPr>
        <dsp:cNvPr id="0" name=""/>
        <dsp:cNvSpPr/>
      </dsp:nvSpPr>
      <dsp:spPr>
        <a:xfrm>
          <a:off x="3546281" y="1732767"/>
          <a:ext cx="888502" cy="88850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26E905-CFFA-475E-B683-DA1967A09146}">
      <dsp:nvSpPr>
        <dsp:cNvPr id="0" name=""/>
        <dsp:cNvSpPr/>
      </dsp:nvSpPr>
      <dsp:spPr>
        <a:xfrm>
          <a:off x="3732866" y="1919353"/>
          <a:ext cx="515331" cy="51533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EDF14FA-6DDC-4B62-9A45-546D61B6080F}">
      <dsp:nvSpPr>
        <dsp:cNvPr id="0" name=""/>
        <dsp:cNvSpPr/>
      </dsp:nvSpPr>
      <dsp:spPr>
        <a:xfrm>
          <a:off x="4625177" y="1732767"/>
          <a:ext cx="2094327" cy="888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i="0" kern="1200"/>
            <a:t>Data visualization</a:t>
          </a:r>
          <a:endParaRPr lang="en-US" sz="2400" kern="1200"/>
        </a:p>
      </dsp:txBody>
      <dsp:txXfrm>
        <a:off x="4625177" y="1732767"/>
        <a:ext cx="2094327" cy="888502"/>
      </dsp:txXfrm>
    </dsp:sp>
    <dsp:sp modelId="{18C8CA60-167A-45D7-A7E8-23ACA9EBB683}">
      <dsp:nvSpPr>
        <dsp:cNvPr id="0" name=""/>
        <dsp:cNvSpPr/>
      </dsp:nvSpPr>
      <dsp:spPr>
        <a:xfrm>
          <a:off x="7084425" y="1732767"/>
          <a:ext cx="888502" cy="88850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2A4AA9-4E6F-41C1-B120-F72AAB9F0EE0}">
      <dsp:nvSpPr>
        <dsp:cNvPr id="0" name=""/>
        <dsp:cNvSpPr/>
      </dsp:nvSpPr>
      <dsp:spPr>
        <a:xfrm>
          <a:off x="7271010" y="1919353"/>
          <a:ext cx="515331" cy="51533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0D095B8-7CFF-42E6-9572-669397686798}">
      <dsp:nvSpPr>
        <dsp:cNvPr id="0" name=""/>
        <dsp:cNvSpPr/>
      </dsp:nvSpPr>
      <dsp:spPr>
        <a:xfrm>
          <a:off x="8163321" y="1732767"/>
          <a:ext cx="2094327" cy="888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i="0" kern="1200"/>
            <a:t>Conclusions</a:t>
          </a:r>
          <a:endParaRPr lang="en-US" sz="2400" kern="1200"/>
        </a:p>
      </dsp:txBody>
      <dsp:txXfrm>
        <a:off x="8163321" y="1732767"/>
        <a:ext cx="2094327" cy="8885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551C1E-E3DD-40BE-BC2A-F52C3968DB05}">
      <dsp:nvSpPr>
        <dsp:cNvPr id="0" name=""/>
        <dsp:cNvSpPr/>
      </dsp:nvSpPr>
      <dsp:spPr>
        <a:xfrm>
          <a:off x="0" y="143349"/>
          <a:ext cx="6832212" cy="1628639"/>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a:t>This dataset consists of tv shows and movies available on Netflix as of 2019. The dataset is collected from Flixable which is a third-party Netflix search engine.</a:t>
          </a:r>
          <a:endParaRPr lang="en-US" sz="1600" kern="1200"/>
        </a:p>
      </dsp:txBody>
      <dsp:txXfrm>
        <a:off x="79504" y="222853"/>
        <a:ext cx="6673204" cy="1469631"/>
      </dsp:txXfrm>
    </dsp:sp>
    <dsp:sp modelId="{4330411D-557B-42FD-8D8B-B04E3E586B16}">
      <dsp:nvSpPr>
        <dsp:cNvPr id="0" name=""/>
        <dsp:cNvSpPr/>
      </dsp:nvSpPr>
      <dsp:spPr>
        <a:xfrm>
          <a:off x="0" y="1818069"/>
          <a:ext cx="6832212" cy="1628639"/>
        </a:xfrm>
        <a:prstGeom prst="roundRect">
          <a:avLst/>
        </a:prstGeom>
        <a:gradFill rotWithShape="0">
          <a:gsLst>
            <a:gs pos="0">
              <a:schemeClr val="accent2">
                <a:hueOff val="226582"/>
                <a:satOff val="-23996"/>
                <a:lumOff val="-588"/>
                <a:alphaOff val="0"/>
                <a:tint val="96000"/>
                <a:lumMod val="104000"/>
              </a:schemeClr>
            </a:gs>
            <a:gs pos="100000">
              <a:schemeClr val="accent2">
                <a:hueOff val="226582"/>
                <a:satOff val="-23996"/>
                <a:lumOff val="-588"/>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dirty="0"/>
            <a:t>In 2018, they released an interesting </a:t>
          </a:r>
          <a:r>
            <a:rPr lang="en-US" sz="1600" b="0" i="0" kern="1200" dirty="0">
              <a:highlight>
                <a:srgbClr val="FFFF00"/>
              </a:highlight>
              <a:hlinkClick xmlns:r="http://schemas.openxmlformats.org/officeDocument/2006/relationships" r:id="rId1"/>
            </a:rPr>
            <a:t>report</a:t>
          </a:r>
          <a:r>
            <a:rPr lang="en-US" sz="1600" b="0" i="0" kern="1200" dirty="0">
              <a:highlight>
                <a:srgbClr val="FFFF00"/>
              </a:highlight>
            </a:rPr>
            <a:t> </a:t>
          </a:r>
          <a:r>
            <a:rPr lang="en-US" sz="1600" b="0" i="0" kern="1200" dirty="0"/>
            <a:t>which shows that the number of TV shows on Netflix has nearly tripled since 2010. The streaming service’s number of movies has decreased by more than 2,000 titles since 2010, while its number of TV shows has nearly tripled. It will be interesting to explore what all other insights can be obtained from the same dataset.</a:t>
          </a:r>
          <a:endParaRPr lang="en-US" sz="1600" kern="1200" dirty="0"/>
        </a:p>
      </dsp:txBody>
      <dsp:txXfrm>
        <a:off x="79504" y="1897573"/>
        <a:ext cx="6673204" cy="1469631"/>
      </dsp:txXfrm>
    </dsp:sp>
    <dsp:sp modelId="{834C37DE-A9AA-4CC4-A894-AF2E51D1B8C6}">
      <dsp:nvSpPr>
        <dsp:cNvPr id="0" name=""/>
        <dsp:cNvSpPr/>
      </dsp:nvSpPr>
      <dsp:spPr>
        <a:xfrm>
          <a:off x="0" y="3492789"/>
          <a:ext cx="6832212" cy="1628639"/>
        </a:xfrm>
        <a:prstGeom prst="roundRect">
          <a:avLst/>
        </a:prstGeom>
        <a:gradFill rotWithShape="0">
          <a:gsLst>
            <a:gs pos="0">
              <a:schemeClr val="accent2">
                <a:hueOff val="453165"/>
                <a:satOff val="-47993"/>
                <a:lumOff val="-1176"/>
                <a:alphaOff val="0"/>
                <a:tint val="96000"/>
                <a:lumMod val="104000"/>
              </a:schemeClr>
            </a:gs>
            <a:gs pos="100000">
              <a:schemeClr val="accent2">
                <a:hueOff val="453165"/>
                <a:satOff val="-47993"/>
                <a:lumOff val="-1176"/>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dirty="0"/>
            <a:t>Integrating this dataset with other external datasets such as IMDB ratings, rotten tomatoes can also provide many interesting findings.</a:t>
          </a:r>
          <a:endParaRPr lang="en-US" sz="1600" kern="1200" dirty="0"/>
        </a:p>
      </dsp:txBody>
      <dsp:txXfrm>
        <a:off x="79504" y="3572293"/>
        <a:ext cx="6673204" cy="14696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3D9737-B681-43BD-9857-5FC47E6364D7}">
      <dsp:nvSpPr>
        <dsp:cNvPr id="0" name=""/>
        <dsp:cNvSpPr/>
      </dsp:nvSpPr>
      <dsp:spPr>
        <a:xfrm>
          <a:off x="0" y="1404"/>
          <a:ext cx="2808563" cy="1685138"/>
        </a:xfrm>
        <a:prstGeom prst="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Understanding what content is available in different countries</a:t>
          </a:r>
          <a:endParaRPr lang="en-US" sz="2100" kern="1200"/>
        </a:p>
      </dsp:txBody>
      <dsp:txXfrm>
        <a:off x="0" y="1404"/>
        <a:ext cx="2808563" cy="1685138"/>
      </dsp:txXfrm>
    </dsp:sp>
    <dsp:sp modelId="{AF2D9049-3745-49B1-99A3-7D7872BC3A9D}">
      <dsp:nvSpPr>
        <dsp:cNvPr id="0" name=""/>
        <dsp:cNvSpPr/>
      </dsp:nvSpPr>
      <dsp:spPr>
        <a:xfrm>
          <a:off x="3089420" y="1404"/>
          <a:ext cx="2808563" cy="1685138"/>
        </a:xfrm>
        <a:prstGeom prst="rect">
          <a:avLst/>
        </a:prstGeom>
        <a:gradFill rotWithShape="0">
          <a:gsLst>
            <a:gs pos="0">
              <a:schemeClr val="accent3">
                <a:hueOff val="0"/>
                <a:satOff val="0"/>
                <a:lumOff val="0"/>
                <a:alphaOff val="0"/>
                <a:tint val="96000"/>
                <a:lumMod val="104000"/>
              </a:schemeClr>
            </a:gs>
            <a:gs pos="100000">
              <a:schemeClr val="accent3">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What are most popular genres on Netflix</a:t>
          </a:r>
        </a:p>
      </dsp:txBody>
      <dsp:txXfrm>
        <a:off x="3089420" y="1404"/>
        <a:ext cx="2808563" cy="1685138"/>
      </dsp:txXfrm>
    </dsp:sp>
    <dsp:sp modelId="{97B68108-93D1-46E1-A1AB-97C2AB1739AB}">
      <dsp:nvSpPr>
        <dsp:cNvPr id="0" name=""/>
        <dsp:cNvSpPr/>
      </dsp:nvSpPr>
      <dsp:spPr>
        <a:xfrm>
          <a:off x="6178840" y="1404"/>
          <a:ext cx="2808563" cy="1685138"/>
        </a:xfrm>
        <a:prstGeom prst="rect">
          <a:avLst/>
        </a:prstGeom>
        <a:gradFill rotWithShape="0">
          <a:gsLst>
            <a:gs pos="0">
              <a:schemeClr val="accent4">
                <a:hueOff val="0"/>
                <a:satOff val="0"/>
                <a:lumOff val="0"/>
                <a:alphaOff val="0"/>
                <a:tint val="96000"/>
                <a:lumMod val="104000"/>
              </a:schemeClr>
            </a:gs>
            <a:gs pos="100000">
              <a:schemeClr val="accent4">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Is Netflix has increasingly focused on TV rather than movies in recent years.</a:t>
          </a:r>
          <a:endParaRPr lang="en-US" sz="2100" kern="1200"/>
        </a:p>
      </dsp:txBody>
      <dsp:txXfrm>
        <a:off x="6178840" y="1404"/>
        <a:ext cx="2808563" cy="1685138"/>
      </dsp:txXfrm>
    </dsp:sp>
    <dsp:sp modelId="{B26CD89D-BAB3-404E-9E26-64E9E4C9BDE5}">
      <dsp:nvSpPr>
        <dsp:cNvPr id="0" name=""/>
        <dsp:cNvSpPr/>
      </dsp:nvSpPr>
      <dsp:spPr>
        <a:xfrm>
          <a:off x="1544710" y="1967398"/>
          <a:ext cx="2808563" cy="1685138"/>
        </a:xfrm>
        <a:prstGeom prst="rect">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What are the rating for Netflix contents</a:t>
          </a:r>
        </a:p>
      </dsp:txBody>
      <dsp:txXfrm>
        <a:off x="1544710" y="1967398"/>
        <a:ext cx="2808563" cy="1685138"/>
      </dsp:txXfrm>
    </dsp:sp>
    <dsp:sp modelId="{356ABEC4-AB33-4255-97A5-6552BB0153B5}">
      <dsp:nvSpPr>
        <dsp:cNvPr id="0" name=""/>
        <dsp:cNvSpPr/>
      </dsp:nvSpPr>
      <dsp:spPr>
        <a:xfrm>
          <a:off x="4634130" y="1967398"/>
          <a:ext cx="2808563" cy="1685138"/>
        </a:xfrm>
        <a:prstGeom prst="rect">
          <a:avLst/>
        </a:prstGeom>
        <a:gradFill rotWithShape="0">
          <a:gsLst>
            <a:gs pos="0">
              <a:schemeClr val="accent6">
                <a:hueOff val="0"/>
                <a:satOff val="0"/>
                <a:lumOff val="0"/>
                <a:alphaOff val="0"/>
                <a:tint val="96000"/>
                <a:lumMod val="104000"/>
              </a:schemeClr>
            </a:gs>
            <a:gs pos="100000">
              <a:schemeClr val="accent6">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Which county have highest Netflix content listed</a:t>
          </a:r>
        </a:p>
      </dsp:txBody>
      <dsp:txXfrm>
        <a:off x="4634130" y="1967398"/>
        <a:ext cx="2808563" cy="1685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66E15B-889D-4EC2-A1EC-9C293F40867C}">
      <dsp:nvSpPr>
        <dsp:cNvPr id="0" name=""/>
        <dsp:cNvSpPr/>
      </dsp:nvSpPr>
      <dsp:spPr>
        <a:xfrm>
          <a:off x="0" y="90480"/>
          <a:ext cx="6832212" cy="397251"/>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0" i="0" kern="1200"/>
            <a:t>This dataset contains data collected from Netflix of different TV shows and movies from the year 2008 to 2021.</a:t>
          </a:r>
          <a:endParaRPr lang="en-US" sz="1000" kern="1200"/>
        </a:p>
      </dsp:txBody>
      <dsp:txXfrm>
        <a:off x="19392" y="109872"/>
        <a:ext cx="6793428" cy="358467"/>
      </dsp:txXfrm>
    </dsp:sp>
    <dsp:sp modelId="{8076517D-DCB2-4F71-856F-EBC1C3D984E9}">
      <dsp:nvSpPr>
        <dsp:cNvPr id="0" name=""/>
        <dsp:cNvSpPr/>
      </dsp:nvSpPr>
      <dsp:spPr>
        <a:xfrm>
          <a:off x="0" y="516531"/>
          <a:ext cx="6832212" cy="397251"/>
        </a:xfrm>
        <a:prstGeom prst="roundRect">
          <a:avLst/>
        </a:prstGeom>
        <a:gradFill rotWithShape="0">
          <a:gsLst>
            <a:gs pos="0">
              <a:schemeClr val="accent2">
                <a:hueOff val="41197"/>
                <a:satOff val="-4363"/>
                <a:lumOff val="-107"/>
                <a:alphaOff val="0"/>
                <a:tint val="96000"/>
                <a:lumMod val="104000"/>
              </a:schemeClr>
            </a:gs>
            <a:gs pos="100000">
              <a:schemeClr val="accent2">
                <a:hueOff val="41197"/>
                <a:satOff val="-4363"/>
                <a:lumOff val="-107"/>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type:</a:t>
          </a:r>
          <a:r>
            <a:rPr lang="en-US" sz="1000" b="0" i="0" kern="1200"/>
            <a:t> Gives information about 2 different unique values one is TV Show and another is Movie</a:t>
          </a:r>
          <a:endParaRPr lang="en-US" sz="1000" kern="1200"/>
        </a:p>
      </dsp:txBody>
      <dsp:txXfrm>
        <a:off x="19392" y="535923"/>
        <a:ext cx="6793428" cy="358467"/>
      </dsp:txXfrm>
    </dsp:sp>
    <dsp:sp modelId="{7FF3EDC4-8E81-448F-96E0-26E9AA2DCADB}">
      <dsp:nvSpPr>
        <dsp:cNvPr id="0" name=""/>
        <dsp:cNvSpPr/>
      </dsp:nvSpPr>
      <dsp:spPr>
        <a:xfrm>
          <a:off x="0" y="942583"/>
          <a:ext cx="6832212" cy="397251"/>
        </a:xfrm>
        <a:prstGeom prst="roundRect">
          <a:avLst/>
        </a:prstGeom>
        <a:gradFill rotWithShape="0">
          <a:gsLst>
            <a:gs pos="0">
              <a:schemeClr val="accent2">
                <a:hueOff val="82394"/>
                <a:satOff val="-8726"/>
                <a:lumOff val="-214"/>
                <a:alphaOff val="0"/>
                <a:tint val="96000"/>
                <a:lumMod val="104000"/>
              </a:schemeClr>
            </a:gs>
            <a:gs pos="100000">
              <a:schemeClr val="accent2">
                <a:hueOff val="82394"/>
                <a:satOff val="-8726"/>
                <a:lumOff val="-214"/>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title:</a:t>
          </a:r>
          <a:r>
            <a:rPr lang="en-US" sz="1000" b="0" i="0" kern="1200"/>
            <a:t> Gives information about the title of Movie or TV Show</a:t>
          </a:r>
          <a:endParaRPr lang="en-US" sz="1000" kern="1200"/>
        </a:p>
      </dsp:txBody>
      <dsp:txXfrm>
        <a:off x="19392" y="961975"/>
        <a:ext cx="6793428" cy="358467"/>
      </dsp:txXfrm>
    </dsp:sp>
    <dsp:sp modelId="{A2595CFC-8869-4561-8A89-960F5495FD4E}">
      <dsp:nvSpPr>
        <dsp:cNvPr id="0" name=""/>
        <dsp:cNvSpPr/>
      </dsp:nvSpPr>
      <dsp:spPr>
        <a:xfrm>
          <a:off x="0" y="1368634"/>
          <a:ext cx="6832212" cy="397251"/>
        </a:xfrm>
        <a:prstGeom prst="roundRect">
          <a:avLst/>
        </a:prstGeom>
        <a:gradFill rotWithShape="0">
          <a:gsLst>
            <a:gs pos="0">
              <a:schemeClr val="accent2">
                <a:hueOff val="123590"/>
                <a:satOff val="-13089"/>
                <a:lumOff val="-321"/>
                <a:alphaOff val="0"/>
                <a:tint val="96000"/>
                <a:lumMod val="104000"/>
              </a:schemeClr>
            </a:gs>
            <a:gs pos="100000">
              <a:schemeClr val="accent2">
                <a:hueOff val="123590"/>
                <a:satOff val="-13089"/>
                <a:lumOff val="-321"/>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director:</a:t>
          </a:r>
          <a:r>
            <a:rPr lang="en-US" sz="1000" b="0" i="0" kern="1200"/>
            <a:t> Gives information about the director who directed the Movie or TV Show</a:t>
          </a:r>
          <a:endParaRPr lang="en-US" sz="1000" kern="1200"/>
        </a:p>
      </dsp:txBody>
      <dsp:txXfrm>
        <a:off x="19392" y="1388026"/>
        <a:ext cx="6793428" cy="358467"/>
      </dsp:txXfrm>
    </dsp:sp>
    <dsp:sp modelId="{CE769A0B-15A0-48D2-857D-8A1EE249634B}">
      <dsp:nvSpPr>
        <dsp:cNvPr id="0" name=""/>
        <dsp:cNvSpPr/>
      </dsp:nvSpPr>
      <dsp:spPr>
        <a:xfrm>
          <a:off x="0" y="1794686"/>
          <a:ext cx="6832212" cy="397251"/>
        </a:xfrm>
        <a:prstGeom prst="roundRect">
          <a:avLst/>
        </a:prstGeom>
        <a:gradFill rotWithShape="0">
          <a:gsLst>
            <a:gs pos="0">
              <a:schemeClr val="accent2">
                <a:hueOff val="164787"/>
                <a:satOff val="-17452"/>
                <a:lumOff val="-428"/>
                <a:alphaOff val="0"/>
                <a:tint val="96000"/>
                <a:lumMod val="104000"/>
              </a:schemeClr>
            </a:gs>
            <a:gs pos="100000">
              <a:schemeClr val="accent2">
                <a:hueOff val="164787"/>
                <a:satOff val="-17452"/>
                <a:lumOff val="-428"/>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cast:</a:t>
          </a:r>
          <a:r>
            <a:rPr lang="en-US" sz="1000" b="0" i="0" kern="1200"/>
            <a:t> Gives information about the cast who plays role in Movie or TV Show</a:t>
          </a:r>
          <a:endParaRPr lang="en-US" sz="1000" kern="1200"/>
        </a:p>
      </dsp:txBody>
      <dsp:txXfrm>
        <a:off x="19392" y="1814078"/>
        <a:ext cx="6793428" cy="358467"/>
      </dsp:txXfrm>
    </dsp:sp>
    <dsp:sp modelId="{B39ED142-9AA1-42D2-9460-4016CF72B4B2}">
      <dsp:nvSpPr>
        <dsp:cNvPr id="0" name=""/>
        <dsp:cNvSpPr/>
      </dsp:nvSpPr>
      <dsp:spPr>
        <a:xfrm>
          <a:off x="0" y="2220737"/>
          <a:ext cx="6832212" cy="397251"/>
        </a:xfrm>
        <a:prstGeom prst="roundRect">
          <a:avLst/>
        </a:prstGeom>
        <a:gradFill rotWithShape="0">
          <a:gsLst>
            <a:gs pos="0">
              <a:schemeClr val="accent2">
                <a:hueOff val="205984"/>
                <a:satOff val="-21815"/>
                <a:lumOff val="-535"/>
                <a:alphaOff val="0"/>
                <a:tint val="96000"/>
                <a:lumMod val="104000"/>
              </a:schemeClr>
            </a:gs>
            <a:gs pos="100000">
              <a:schemeClr val="accent2">
                <a:hueOff val="205984"/>
                <a:satOff val="-21815"/>
                <a:lumOff val="-535"/>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release_year:</a:t>
          </a:r>
          <a:r>
            <a:rPr lang="en-US" sz="1000" b="0" i="0" kern="1200"/>
            <a:t> Gives information about the year when Movie or TV Show was released</a:t>
          </a:r>
          <a:endParaRPr lang="en-US" sz="1000" kern="1200"/>
        </a:p>
      </dsp:txBody>
      <dsp:txXfrm>
        <a:off x="19392" y="2240129"/>
        <a:ext cx="6793428" cy="358467"/>
      </dsp:txXfrm>
    </dsp:sp>
    <dsp:sp modelId="{1415B6DC-687C-4408-92F4-C254994BA851}">
      <dsp:nvSpPr>
        <dsp:cNvPr id="0" name=""/>
        <dsp:cNvSpPr/>
      </dsp:nvSpPr>
      <dsp:spPr>
        <a:xfrm>
          <a:off x="0" y="2646789"/>
          <a:ext cx="6832212" cy="397251"/>
        </a:xfrm>
        <a:prstGeom prst="roundRect">
          <a:avLst/>
        </a:prstGeom>
        <a:gradFill rotWithShape="0">
          <a:gsLst>
            <a:gs pos="0">
              <a:schemeClr val="accent2">
                <a:hueOff val="247181"/>
                <a:satOff val="-26178"/>
                <a:lumOff val="-641"/>
                <a:alphaOff val="0"/>
                <a:tint val="96000"/>
                <a:lumMod val="104000"/>
              </a:schemeClr>
            </a:gs>
            <a:gs pos="100000">
              <a:schemeClr val="accent2">
                <a:hueOff val="247181"/>
                <a:satOff val="-26178"/>
                <a:lumOff val="-641"/>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date_added:</a:t>
          </a:r>
          <a:r>
            <a:rPr lang="en-US" sz="1000" b="0" i="0" kern="1200"/>
            <a:t> Gives information about the date when Movie or TV Show was added on Netflix</a:t>
          </a:r>
          <a:endParaRPr lang="en-US" sz="1000" kern="1200"/>
        </a:p>
      </dsp:txBody>
      <dsp:txXfrm>
        <a:off x="19392" y="2666181"/>
        <a:ext cx="6793428" cy="358467"/>
      </dsp:txXfrm>
    </dsp:sp>
    <dsp:sp modelId="{A030385E-20FC-407A-921B-4B06C4A74C8A}">
      <dsp:nvSpPr>
        <dsp:cNvPr id="0" name=""/>
        <dsp:cNvSpPr/>
      </dsp:nvSpPr>
      <dsp:spPr>
        <a:xfrm>
          <a:off x="0" y="3072841"/>
          <a:ext cx="6832212" cy="397251"/>
        </a:xfrm>
        <a:prstGeom prst="roundRect">
          <a:avLst/>
        </a:prstGeom>
        <a:gradFill rotWithShape="0">
          <a:gsLst>
            <a:gs pos="0">
              <a:schemeClr val="accent2">
                <a:hueOff val="288378"/>
                <a:satOff val="-30541"/>
                <a:lumOff val="-748"/>
                <a:alphaOff val="0"/>
                <a:tint val="96000"/>
                <a:lumMod val="104000"/>
              </a:schemeClr>
            </a:gs>
            <a:gs pos="100000">
              <a:schemeClr val="accent2">
                <a:hueOff val="288378"/>
                <a:satOff val="-30541"/>
                <a:lumOff val="-748"/>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rating:</a:t>
          </a:r>
          <a:r>
            <a:rPr lang="en-US" sz="1000" b="0" i="0" kern="1200"/>
            <a:t> Gives information about the Movie or TV Show are in which category (eg like the movies are only for students, or adults, etc)</a:t>
          </a:r>
          <a:endParaRPr lang="en-US" sz="1000" kern="1200"/>
        </a:p>
      </dsp:txBody>
      <dsp:txXfrm>
        <a:off x="19392" y="3092233"/>
        <a:ext cx="6793428" cy="358467"/>
      </dsp:txXfrm>
    </dsp:sp>
    <dsp:sp modelId="{9B8DDFA3-D7C3-4C51-9957-62C44FDDBEC4}">
      <dsp:nvSpPr>
        <dsp:cNvPr id="0" name=""/>
        <dsp:cNvSpPr/>
      </dsp:nvSpPr>
      <dsp:spPr>
        <a:xfrm>
          <a:off x="0" y="3498892"/>
          <a:ext cx="6832212" cy="397251"/>
        </a:xfrm>
        <a:prstGeom prst="roundRect">
          <a:avLst/>
        </a:prstGeom>
        <a:gradFill rotWithShape="0">
          <a:gsLst>
            <a:gs pos="0">
              <a:schemeClr val="accent2">
                <a:hueOff val="329575"/>
                <a:satOff val="-34904"/>
                <a:lumOff val="-855"/>
                <a:alphaOff val="0"/>
                <a:tint val="96000"/>
                <a:lumMod val="104000"/>
              </a:schemeClr>
            </a:gs>
            <a:gs pos="100000">
              <a:schemeClr val="accent2">
                <a:hueOff val="329575"/>
                <a:satOff val="-34904"/>
                <a:lumOff val="-855"/>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duration:</a:t>
          </a:r>
          <a:r>
            <a:rPr lang="en-US" sz="1000" b="0" i="0" kern="1200"/>
            <a:t> Gives information about the duration of Movie or TV Show</a:t>
          </a:r>
          <a:endParaRPr lang="en-US" sz="1000" kern="1200"/>
        </a:p>
      </dsp:txBody>
      <dsp:txXfrm>
        <a:off x="19392" y="3518284"/>
        <a:ext cx="6793428" cy="358467"/>
      </dsp:txXfrm>
    </dsp:sp>
    <dsp:sp modelId="{5E17C6AF-A265-442C-AB60-4812E7F7416C}">
      <dsp:nvSpPr>
        <dsp:cNvPr id="0" name=""/>
        <dsp:cNvSpPr/>
      </dsp:nvSpPr>
      <dsp:spPr>
        <a:xfrm>
          <a:off x="0" y="3924944"/>
          <a:ext cx="6832212" cy="397251"/>
        </a:xfrm>
        <a:prstGeom prst="roundRect">
          <a:avLst/>
        </a:prstGeom>
        <a:gradFill rotWithShape="0">
          <a:gsLst>
            <a:gs pos="0">
              <a:schemeClr val="accent2">
                <a:hueOff val="370771"/>
                <a:satOff val="-39267"/>
                <a:lumOff val="-962"/>
                <a:alphaOff val="0"/>
                <a:tint val="96000"/>
                <a:lumMod val="104000"/>
              </a:schemeClr>
            </a:gs>
            <a:gs pos="100000">
              <a:schemeClr val="accent2">
                <a:hueOff val="370771"/>
                <a:satOff val="-39267"/>
                <a:lumOff val="-962"/>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listed_in:</a:t>
          </a:r>
          <a:r>
            <a:rPr lang="en-US" sz="1000" b="0" i="0" kern="1200"/>
            <a:t> Gives information about the genre of Movie or TV Show</a:t>
          </a:r>
          <a:endParaRPr lang="en-US" sz="1000" kern="1200"/>
        </a:p>
      </dsp:txBody>
      <dsp:txXfrm>
        <a:off x="19392" y="3944336"/>
        <a:ext cx="6793428" cy="358467"/>
      </dsp:txXfrm>
    </dsp:sp>
    <dsp:sp modelId="{B89321F1-CFC4-461E-B042-75E8EFEADF6E}">
      <dsp:nvSpPr>
        <dsp:cNvPr id="0" name=""/>
        <dsp:cNvSpPr/>
      </dsp:nvSpPr>
      <dsp:spPr>
        <a:xfrm>
          <a:off x="0" y="4350995"/>
          <a:ext cx="6832212" cy="397251"/>
        </a:xfrm>
        <a:prstGeom prst="roundRect">
          <a:avLst/>
        </a:prstGeom>
        <a:gradFill rotWithShape="0">
          <a:gsLst>
            <a:gs pos="0">
              <a:schemeClr val="accent2">
                <a:hueOff val="411968"/>
                <a:satOff val="-43630"/>
                <a:lumOff val="-1069"/>
                <a:alphaOff val="0"/>
                <a:tint val="96000"/>
                <a:lumMod val="104000"/>
              </a:schemeClr>
            </a:gs>
            <a:gs pos="100000">
              <a:schemeClr val="accent2">
                <a:hueOff val="411968"/>
                <a:satOff val="-43630"/>
                <a:lumOff val="-1069"/>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description:</a:t>
          </a:r>
          <a:r>
            <a:rPr lang="en-US" sz="1000" b="0" i="0" kern="1200"/>
            <a:t> Gives information about the description of Movie or TV Show</a:t>
          </a:r>
          <a:endParaRPr lang="en-US" sz="1000" kern="1200"/>
        </a:p>
      </dsp:txBody>
      <dsp:txXfrm>
        <a:off x="19392" y="4370387"/>
        <a:ext cx="6793428" cy="358467"/>
      </dsp:txXfrm>
    </dsp:sp>
    <dsp:sp modelId="{3B14B157-9EEF-49EF-B951-C51DDF80C8F7}">
      <dsp:nvSpPr>
        <dsp:cNvPr id="0" name=""/>
        <dsp:cNvSpPr/>
      </dsp:nvSpPr>
      <dsp:spPr>
        <a:xfrm>
          <a:off x="0" y="4777047"/>
          <a:ext cx="6832212" cy="397251"/>
        </a:xfrm>
        <a:prstGeom prst="roundRect">
          <a:avLst/>
        </a:prstGeom>
        <a:gradFill rotWithShape="0">
          <a:gsLst>
            <a:gs pos="0">
              <a:schemeClr val="accent2">
                <a:hueOff val="453165"/>
                <a:satOff val="-47993"/>
                <a:lumOff val="-1176"/>
                <a:alphaOff val="0"/>
                <a:tint val="96000"/>
                <a:lumMod val="104000"/>
              </a:schemeClr>
            </a:gs>
            <a:gs pos="100000">
              <a:schemeClr val="accent2">
                <a:hueOff val="453165"/>
                <a:satOff val="-47993"/>
                <a:lumOff val="-1176"/>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kern="1200"/>
            <a:t>Country:  </a:t>
          </a:r>
          <a:r>
            <a:rPr lang="en-US" sz="1000" kern="1200"/>
            <a:t>Country where the content is available to watch</a:t>
          </a:r>
        </a:p>
      </dsp:txBody>
      <dsp:txXfrm>
        <a:off x="19392" y="4796439"/>
        <a:ext cx="6793428" cy="35846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F5B3A-50A5-48D3-A2D2-C321535DC72A}">
      <dsp:nvSpPr>
        <dsp:cNvPr id="0" name=""/>
        <dsp:cNvSpPr/>
      </dsp:nvSpPr>
      <dsp:spPr>
        <a:xfrm>
          <a:off x="0" y="138120"/>
          <a:ext cx="8987404" cy="1074060"/>
        </a:xfrm>
        <a:prstGeom prst="roundRect">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a:t>We have derived 2 </a:t>
          </a:r>
          <a:r>
            <a:rPr lang="en-US" sz="2700" kern="1200"/>
            <a:t>fields from date_added variable for analysis</a:t>
          </a:r>
        </a:p>
      </dsp:txBody>
      <dsp:txXfrm>
        <a:off x="52431" y="190551"/>
        <a:ext cx="8882542" cy="969198"/>
      </dsp:txXfrm>
    </dsp:sp>
    <dsp:sp modelId="{F7CC8CCD-5439-4BBA-9FF7-14BF9D0339F1}">
      <dsp:nvSpPr>
        <dsp:cNvPr id="0" name=""/>
        <dsp:cNvSpPr/>
      </dsp:nvSpPr>
      <dsp:spPr>
        <a:xfrm>
          <a:off x="0" y="1289940"/>
          <a:ext cx="8987404" cy="1074060"/>
        </a:xfrm>
        <a:prstGeom prst="roundRect">
          <a:avLst/>
        </a:prstGeom>
        <a:gradFill rotWithShape="0">
          <a:gsLst>
            <a:gs pos="0">
              <a:schemeClr val="accent5">
                <a:hueOff val="2404066"/>
                <a:satOff val="-4882"/>
                <a:lumOff val="3137"/>
                <a:alphaOff val="0"/>
                <a:tint val="96000"/>
                <a:lumMod val="104000"/>
              </a:schemeClr>
            </a:gs>
            <a:gs pos="100000">
              <a:schemeClr val="accent5">
                <a:hueOff val="2404066"/>
                <a:satOff val="-4882"/>
                <a:lumOff val="3137"/>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t>year</a:t>
          </a:r>
          <a:r>
            <a:rPr lang="en-US" sz="2700" b="1" i="0" kern="1200"/>
            <a:t>_added:</a:t>
          </a:r>
          <a:r>
            <a:rPr lang="en-US" sz="2700" b="0" i="0" kern="1200"/>
            <a:t> Gives information about the year when Movie or TV Show was added on Netflix</a:t>
          </a:r>
          <a:endParaRPr lang="en-US" sz="2700" kern="1200"/>
        </a:p>
      </dsp:txBody>
      <dsp:txXfrm>
        <a:off x="52431" y="1342371"/>
        <a:ext cx="8882542" cy="969198"/>
      </dsp:txXfrm>
    </dsp:sp>
    <dsp:sp modelId="{1596BB66-27BA-40B0-BDCE-53EE57B81018}">
      <dsp:nvSpPr>
        <dsp:cNvPr id="0" name=""/>
        <dsp:cNvSpPr/>
      </dsp:nvSpPr>
      <dsp:spPr>
        <a:xfrm>
          <a:off x="0" y="2441760"/>
          <a:ext cx="8987404" cy="1074060"/>
        </a:xfrm>
        <a:prstGeom prst="roundRect">
          <a:avLst/>
        </a:prstGeom>
        <a:gradFill rotWithShape="0">
          <a:gsLst>
            <a:gs pos="0">
              <a:schemeClr val="accent5">
                <a:hueOff val="4808133"/>
                <a:satOff val="-9764"/>
                <a:lumOff val="6275"/>
                <a:alphaOff val="0"/>
                <a:tint val="96000"/>
                <a:lumMod val="104000"/>
              </a:schemeClr>
            </a:gs>
            <a:gs pos="100000">
              <a:schemeClr val="accent5">
                <a:hueOff val="4808133"/>
                <a:satOff val="-9764"/>
                <a:lumOff val="6275"/>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err="1"/>
            <a:t>month</a:t>
          </a:r>
          <a:r>
            <a:rPr lang="en-US" sz="2700" b="1" i="0" kern="1200" dirty="0" err="1"/>
            <a:t>_added</a:t>
          </a:r>
          <a:r>
            <a:rPr lang="en-US" sz="2700" b="1" i="0" kern="1200" dirty="0"/>
            <a:t>:</a:t>
          </a:r>
          <a:r>
            <a:rPr lang="en-US" sz="2700" b="0" i="0" kern="1200" dirty="0"/>
            <a:t> Gives information about the month when Movie or TV Show was added on Netflix</a:t>
          </a:r>
          <a:endParaRPr lang="en-US" sz="2700" kern="1200" dirty="0"/>
        </a:p>
      </dsp:txBody>
      <dsp:txXfrm>
        <a:off x="52431" y="2494191"/>
        <a:ext cx="8882542" cy="969198"/>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0C0817-A112-4847-8014-A94B7D2A4EA3}" type="datetime1">
              <a:rPr lang="en-US" smtClean="0"/>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60218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140749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C646AA-F36E-4540-911D-FFFC0A0EF24A}" type="datetime1">
              <a:rPr lang="en-US" smtClean="0"/>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81379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6/4/2022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089718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6/4/2022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47361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6/4/2022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37136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6/4/2022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703751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8D12A6-918A-48BD-8CB9-CA713993B0EA}" type="datetime1">
              <a:rPr lang="en-US" smtClean="0"/>
              <a:t>6/4/2022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763542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78CE86-875F-4587-BCF6-FA054AFC0D53}" type="datetime1">
              <a:rPr lang="en-US" smtClean="0"/>
              <a:pPr/>
              <a:t>6/4/2022</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93334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1929318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4B7E4EF-A1BD-40F4-AB7B-04F084DD991D}"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7999177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6FA2B21-3FCD-4721-B95C-427943F61125}" type="datetime1">
              <a:rPr lang="en-US" smtClean="0"/>
              <a:t>6/4/2022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2284176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6FA2B21-3FCD-4721-B95C-427943F61125}" type="datetime1">
              <a:rPr lang="en-US" smtClean="0"/>
              <a:t>6/4/2022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4B7E4EF-A1BD-40F4-AB7B-04F084DD991D}"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2521792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6FA2B21-3FCD-4721-B95C-427943F61125}" type="datetime1">
              <a:rPr lang="en-US" smtClean="0"/>
              <a:t>6/4/2022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8371717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FA2B21-3FCD-4721-B95C-427943F61125}" type="datetime1">
              <a:rPr lang="en-US" smtClean="0"/>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82087876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FA2B21-3FCD-4721-B95C-427943F61125}" type="datetime1">
              <a:rPr lang="en-US" smtClean="0"/>
              <a:t>6/4/2022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2268728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6FA2B21-3FCD-4721-B95C-427943F61125}" type="datetime1">
              <a:rPr lang="en-US" smtClean="0"/>
              <a:t>6/4/2022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88955973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5FFA5E0-4C70-431D-A19D-18415F6C4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l="7058" t="9091" r="2033"/>
          <a:stretch/>
        </p:blipFill>
        <p:spPr>
          <a:xfrm>
            <a:off x="20" y="10"/>
            <a:ext cx="12191980" cy="6857990"/>
          </a:xfrm>
          <a:prstGeom prst="rect">
            <a:avLst/>
          </a:prstGeom>
        </p:spPr>
      </p:pic>
      <p:sp>
        <p:nvSpPr>
          <p:cNvPr id="20" name="Freeform 5">
            <a:extLst>
              <a:ext uri="{FF2B5EF4-FFF2-40B4-BE49-F238E27FC236}">
                <a16:creationId xmlns:a16="http://schemas.microsoft.com/office/drawing/2014/main" id="{4536C52F-C11B-4718-8B63-3E4A43465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3632297"/>
            <a:ext cx="10602096" cy="2170389"/>
          </a:xfrm>
          <a:custGeom>
            <a:avLst/>
            <a:gdLst>
              <a:gd name="T0" fmla="*/ 2253 w 2259"/>
              <a:gd name="T1" fmla="*/ 195 h 413"/>
              <a:gd name="T2" fmla="*/ 2064 w 2259"/>
              <a:gd name="T3" fmla="*/ 7 h 413"/>
              <a:gd name="T4" fmla="*/ 2062 w 2259"/>
              <a:gd name="T5" fmla="*/ 5 h 413"/>
              <a:gd name="T6" fmla="*/ 2048 w 2259"/>
              <a:gd name="T7" fmla="*/ 0 h 413"/>
              <a:gd name="T8" fmla="*/ 891 w 2259"/>
              <a:gd name="T9" fmla="*/ 0 h 413"/>
              <a:gd name="T10" fmla="*/ 851 w 2259"/>
              <a:gd name="T11" fmla="*/ 0 h 413"/>
              <a:gd name="T12" fmla="*/ 541 w 2259"/>
              <a:gd name="T13" fmla="*/ 0 h 413"/>
              <a:gd name="T14" fmla="*/ 54 w 2259"/>
              <a:gd name="T15" fmla="*/ 0 h 413"/>
              <a:gd name="T16" fmla="*/ 0 w 2259"/>
              <a:gd name="T17" fmla="*/ 0 h 413"/>
              <a:gd name="T18" fmla="*/ 0 w 2259"/>
              <a:gd name="T19" fmla="*/ 413 h 413"/>
              <a:gd name="T20" fmla="*/ 54 w 2259"/>
              <a:gd name="T21" fmla="*/ 413 h 413"/>
              <a:gd name="T22" fmla="*/ 541 w 2259"/>
              <a:gd name="T23" fmla="*/ 413 h 413"/>
              <a:gd name="T24" fmla="*/ 851 w 2259"/>
              <a:gd name="T25" fmla="*/ 413 h 413"/>
              <a:gd name="T26" fmla="*/ 891 w 2259"/>
              <a:gd name="T27" fmla="*/ 413 h 413"/>
              <a:gd name="T28" fmla="*/ 2048 w 2259"/>
              <a:gd name="T29" fmla="*/ 413 h 413"/>
              <a:gd name="T30" fmla="*/ 2062 w 2259"/>
              <a:gd name="T31" fmla="*/ 408 h 413"/>
              <a:gd name="T32" fmla="*/ 2064 w 2259"/>
              <a:gd name="T33" fmla="*/ 406 h 413"/>
              <a:gd name="T34" fmla="*/ 2253 w 2259"/>
              <a:gd name="T35" fmla="*/ 217 h 413"/>
              <a:gd name="T36" fmla="*/ 2253 w 2259"/>
              <a:gd name="T37" fmla="*/ 195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59" h="413">
                <a:moveTo>
                  <a:pt x="2253" y="195"/>
                </a:moveTo>
                <a:cubicBezTo>
                  <a:pt x="2064" y="7"/>
                  <a:pt x="2064" y="7"/>
                  <a:pt x="2064" y="7"/>
                </a:cubicBezTo>
                <a:cubicBezTo>
                  <a:pt x="2064" y="6"/>
                  <a:pt x="2063" y="5"/>
                  <a:pt x="2062" y="5"/>
                </a:cubicBezTo>
                <a:cubicBezTo>
                  <a:pt x="2058" y="2"/>
                  <a:pt x="2053" y="0"/>
                  <a:pt x="2048" y="0"/>
                </a:cubicBezTo>
                <a:cubicBezTo>
                  <a:pt x="891" y="0"/>
                  <a:pt x="891" y="0"/>
                  <a:pt x="891" y="0"/>
                </a:cubicBezTo>
                <a:cubicBezTo>
                  <a:pt x="851" y="0"/>
                  <a:pt x="851" y="0"/>
                  <a:pt x="851" y="0"/>
                </a:cubicBezTo>
                <a:cubicBezTo>
                  <a:pt x="541" y="0"/>
                  <a:pt x="541" y="0"/>
                  <a:pt x="541" y="0"/>
                </a:cubicBezTo>
                <a:cubicBezTo>
                  <a:pt x="54" y="0"/>
                  <a:pt x="54" y="0"/>
                  <a:pt x="54" y="0"/>
                </a:cubicBezTo>
                <a:cubicBezTo>
                  <a:pt x="0" y="0"/>
                  <a:pt x="0" y="0"/>
                  <a:pt x="0" y="0"/>
                </a:cubicBezTo>
                <a:cubicBezTo>
                  <a:pt x="0" y="413"/>
                  <a:pt x="0" y="413"/>
                  <a:pt x="0" y="413"/>
                </a:cubicBezTo>
                <a:cubicBezTo>
                  <a:pt x="54" y="413"/>
                  <a:pt x="54" y="413"/>
                  <a:pt x="54" y="413"/>
                </a:cubicBezTo>
                <a:cubicBezTo>
                  <a:pt x="541" y="413"/>
                  <a:pt x="541" y="413"/>
                  <a:pt x="541" y="413"/>
                </a:cubicBezTo>
                <a:cubicBezTo>
                  <a:pt x="851" y="413"/>
                  <a:pt x="851" y="413"/>
                  <a:pt x="851" y="413"/>
                </a:cubicBezTo>
                <a:cubicBezTo>
                  <a:pt x="891" y="413"/>
                  <a:pt x="891" y="413"/>
                  <a:pt x="891" y="413"/>
                </a:cubicBezTo>
                <a:cubicBezTo>
                  <a:pt x="2048" y="413"/>
                  <a:pt x="2048" y="413"/>
                  <a:pt x="2048" y="413"/>
                </a:cubicBezTo>
                <a:cubicBezTo>
                  <a:pt x="2053" y="413"/>
                  <a:pt x="2058" y="411"/>
                  <a:pt x="2062" y="408"/>
                </a:cubicBezTo>
                <a:cubicBezTo>
                  <a:pt x="2063" y="407"/>
                  <a:pt x="2064" y="406"/>
                  <a:pt x="2064" y="406"/>
                </a:cubicBezTo>
                <a:cubicBezTo>
                  <a:pt x="2253" y="217"/>
                  <a:pt x="2253" y="217"/>
                  <a:pt x="2253" y="217"/>
                </a:cubicBezTo>
                <a:cubicBezTo>
                  <a:pt x="2259" y="211"/>
                  <a:pt x="2259" y="201"/>
                  <a:pt x="2253" y="195"/>
                </a:cubicBezTo>
                <a:close/>
              </a:path>
            </a:pathLst>
          </a:custGeom>
          <a:solidFill>
            <a:schemeClr val="accent1">
              <a:alpha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083733" y="3962400"/>
            <a:ext cx="8458200" cy="958911"/>
          </a:xfrm>
        </p:spPr>
        <p:txBody>
          <a:bodyPr>
            <a:normAutofit/>
          </a:bodyPr>
          <a:lstStyle/>
          <a:p>
            <a:r>
              <a:rPr lang="en-US" sz="4400">
                <a:solidFill>
                  <a:srgbClr val="FEFFFF"/>
                </a:solidFill>
              </a:rPr>
              <a:t>EDA on </a:t>
            </a:r>
            <a:r>
              <a:rPr lang="en-US" sz="4400" b="1">
                <a:solidFill>
                  <a:srgbClr val="FEFFFF"/>
                </a:solidFill>
                <a:highlight>
                  <a:srgbClr val="000000"/>
                </a:highlight>
              </a:rPr>
              <a:t>NETFLIX</a:t>
            </a:r>
            <a:r>
              <a:rPr lang="en-US" sz="4400">
                <a:solidFill>
                  <a:srgbClr val="FEFFFF"/>
                </a:solidFill>
              </a:rPr>
              <a:t> dataset</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1083733" y="4944531"/>
            <a:ext cx="8458200" cy="524935"/>
          </a:xfrm>
        </p:spPr>
        <p:txBody>
          <a:bodyPr>
            <a:normAutofit/>
          </a:bodyPr>
          <a:lstStyle/>
          <a:p>
            <a:pPr>
              <a:spcAft>
                <a:spcPts val="600"/>
              </a:spcAft>
            </a:pPr>
            <a:r>
              <a:rPr lang="en-US" dirty="0">
                <a:solidFill>
                  <a:srgbClr val="FEFFFF"/>
                </a:solidFill>
              </a:rPr>
              <a:t>Debasish Panda </a:t>
            </a:r>
          </a:p>
        </p:txBody>
      </p:sp>
    </p:spTree>
    <p:extLst>
      <p:ext uri="{BB962C8B-B14F-4D97-AF65-F5344CB8AC3E}">
        <p14:creationId xmlns:p14="http://schemas.microsoft.com/office/powerpoint/2010/main" val="258428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F7E8610-2DF7-4AF0-B876-0F3B7882A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1C8C023-62A6-4DA0-8DF4-3F4EA94090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0669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EC6189BC-AA40-4B30-995F-CE1F55490373}"/>
              </a:ext>
            </a:extLst>
          </p:cNvPr>
          <p:cNvSpPr>
            <a:spLocks noGrp="1"/>
          </p:cNvSpPr>
          <p:nvPr>
            <p:ph type="title"/>
          </p:nvPr>
        </p:nvSpPr>
        <p:spPr>
          <a:xfrm>
            <a:off x="1843391" y="624110"/>
            <a:ext cx="9383408" cy="1280890"/>
          </a:xfrm>
        </p:spPr>
        <p:txBody>
          <a:bodyPr>
            <a:normAutofit/>
          </a:bodyPr>
          <a:lstStyle/>
          <a:p>
            <a:r>
              <a:rPr lang="en-US">
                <a:solidFill>
                  <a:schemeClr val="bg1"/>
                </a:solidFill>
              </a:rPr>
              <a:t>Agenda</a:t>
            </a:r>
          </a:p>
        </p:txBody>
      </p:sp>
      <p:sp>
        <p:nvSpPr>
          <p:cNvPr id="13" name="Freeform 11">
            <a:extLst>
              <a:ext uri="{FF2B5EF4-FFF2-40B4-BE49-F238E27FC236}">
                <a16:creationId xmlns:a16="http://schemas.microsoft.com/office/drawing/2014/main" id="{26B9FE07-322E-43FB-8707-C9826BD90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graphicFrame>
        <p:nvGraphicFramePr>
          <p:cNvPr id="5" name="Content Placeholder 2">
            <a:extLst>
              <a:ext uri="{FF2B5EF4-FFF2-40B4-BE49-F238E27FC236}">
                <a16:creationId xmlns:a16="http://schemas.microsoft.com/office/drawing/2014/main" id="{A316B19F-69B1-A807-D41D-82210195D6E5}"/>
              </a:ext>
            </a:extLst>
          </p:cNvPr>
          <p:cNvGraphicFramePr>
            <a:graphicFrameLocks noGrp="1"/>
          </p:cNvGraphicFramePr>
          <p:nvPr>
            <p:ph idx="1"/>
            <p:extLst>
              <p:ext uri="{D42A27DB-BD31-4B8C-83A1-F6EECF244321}">
                <p14:modId xmlns:p14="http://schemas.microsoft.com/office/powerpoint/2010/main" val="1693094907"/>
              </p:ext>
            </p:extLst>
          </p:nvPr>
        </p:nvGraphicFramePr>
        <p:xfrm>
          <a:off x="961012" y="2930805"/>
          <a:ext cx="10265786" cy="29619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9184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3D9AEEE-1CCD-43C0-BA3E-16D60A6E2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790383-68B8-468A-8130-5BC4E0E0816D}"/>
              </a:ext>
            </a:extLst>
          </p:cNvPr>
          <p:cNvSpPr>
            <a:spLocks noGrp="1"/>
          </p:cNvSpPr>
          <p:nvPr>
            <p:ph type="title"/>
          </p:nvPr>
        </p:nvSpPr>
        <p:spPr>
          <a:xfrm>
            <a:off x="1259893" y="3101093"/>
            <a:ext cx="2454052" cy="3029344"/>
          </a:xfrm>
        </p:spPr>
        <p:txBody>
          <a:bodyPr>
            <a:normAutofit/>
          </a:bodyPr>
          <a:lstStyle/>
          <a:p>
            <a:r>
              <a:rPr lang="en-US" sz="3200">
                <a:solidFill>
                  <a:schemeClr val="bg1"/>
                </a:solidFill>
              </a:rPr>
              <a:t>Dataset</a:t>
            </a:r>
          </a:p>
        </p:txBody>
      </p:sp>
      <p:sp>
        <p:nvSpPr>
          <p:cNvPr id="11" name="Freeform 11">
            <a:extLst>
              <a:ext uri="{FF2B5EF4-FFF2-40B4-BE49-F238E27FC236}">
                <a16:creationId xmlns:a16="http://schemas.microsoft.com/office/drawing/2014/main" id="{60F880A6-33D3-4EEC-A780-B73559B9F2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useBgFill="1">
        <p:nvSpPr>
          <p:cNvPr id="13" name="Rectangle 12">
            <a:extLst>
              <a:ext uri="{FF2B5EF4-FFF2-40B4-BE49-F238E27FC236}">
                <a16:creationId xmlns:a16="http://schemas.microsoft.com/office/drawing/2014/main" id="{2C6246ED-0535-4496-A8F6-1E80CC4E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A160B8B-328A-3450-6740-D84C24532DF6}"/>
              </a:ext>
            </a:extLst>
          </p:cNvPr>
          <p:cNvGraphicFramePr>
            <a:graphicFrameLocks noGrp="1"/>
          </p:cNvGraphicFramePr>
          <p:nvPr>
            <p:ph idx="1"/>
            <p:extLst>
              <p:ext uri="{D42A27DB-BD31-4B8C-83A1-F6EECF244321}">
                <p14:modId xmlns:p14="http://schemas.microsoft.com/office/powerpoint/2010/main" val="541265892"/>
              </p:ext>
            </p:extLst>
          </p:nvPr>
        </p:nvGraphicFramePr>
        <p:xfrm>
          <a:off x="4713144" y="641551"/>
          <a:ext cx="6832212" cy="5264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5774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66DD2F-FBF5-41CE-A3F4-565352D95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588C55-2485-452D-969F-02CE423DC0B0}"/>
              </a:ext>
            </a:extLst>
          </p:cNvPr>
          <p:cNvSpPr>
            <a:spLocks noGrp="1"/>
          </p:cNvSpPr>
          <p:nvPr>
            <p:ph type="title"/>
          </p:nvPr>
        </p:nvSpPr>
        <p:spPr>
          <a:xfrm>
            <a:off x="1794897" y="624110"/>
            <a:ext cx="9712998" cy="1280890"/>
          </a:xfrm>
        </p:spPr>
        <p:txBody>
          <a:bodyPr>
            <a:normAutofit/>
          </a:bodyPr>
          <a:lstStyle/>
          <a:p>
            <a:r>
              <a:rPr lang="en-US"/>
              <a:t>Business Questions</a:t>
            </a:r>
            <a:endParaRPr lang="en-US" dirty="0"/>
          </a:p>
        </p:txBody>
      </p:sp>
      <p:sp>
        <p:nvSpPr>
          <p:cNvPr id="11" name="Rectangle 10">
            <a:extLst>
              <a:ext uri="{FF2B5EF4-FFF2-40B4-BE49-F238E27FC236}">
                <a16:creationId xmlns:a16="http://schemas.microsoft.com/office/drawing/2014/main" id="{F46FCE2B-F2D2-466E-B0AA-8E341DB498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1">
            <a:extLst>
              <a:ext uri="{FF2B5EF4-FFF2-40B4-BE49-F238E27FC236}">
                <a16:creationId xmlns:a16="http://schemas.microsoft.com/office/drawing/2014/main" id="{2BD31C98-199A-4722-A1A5-4393A43E7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graphicFrame>
        <p:nvGraphicFramePr>
          <p:cNvPr id="5" name="Content Placeholder 2">
            <a:extLst>
              <a:ext uri="{FF2B5EF4-FFF2-40B4-BE49-F238E27FC236}">
                <a16:creationId xmlns:a16="http://schemas.microsoft.com/office/drawing/2014/main" id="{7AC4DFE3-106C-5C38-9EDD-9B256801ED04}"/>
              </a:ext>
            </a:extLst>
          </p:cNvPr>
          <p:cNvGraphicFramePr>
            <a:graphicFrameLocks noGrp="1"/>
          </p:cNvGraphicFramePr>
          <p:nvPr>
            <p:ph idx="1"/>
            <p:extLst>
              <p:ext uri="{D42A27DB-BD31-4B8C-83A1-F6EECF244321}">
                <p14:modId xmlns:p14="http://schemas.microsoft.com/office/powerpoint/2010/main" val="4213842114"/>
              </p:ext>
            </p:extLst>
          </p:nvPr>
        </p:nvGraphicFramePr>
        <p:xfrm>
          <a:off x="1794897" y="2222983"/>
          <a:ext cx="8987404" cy="36539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0568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3D9AEEE-1CCD-43C0-BA3E-16D60A6E2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7264EA-167E-4147-9554-159BAF31325D}"/>
              </a:ext>
            </a:extLst>
          </p:cNvPr>
          <p:cNvSpPr>
            <a:spLocks noGrp="1"/>
          </p:cNvSpPr>
          <p:nvPr>
            <p:ph type="title"/>
          </p:nvPr>
        </p:nvSpPr>
        <p:spPr>
          <a:xfrm>
            <a:off x="1259893" y="3101093"/>
            <a:ext cx="2454052" cy="3029344"/>
          </a:xfrm>
        </p:spPr>
        <p:txBody>
          <a:bodyPr>
            <a:normAutofit/>
          </a:bodyPr>
          <a:lstStyle/>
          <a:p>
            <a:r>
              <a:rPr lang="en-US" sz="3200" b="0" i="0">
                <a:solidFill>
                  <a:schemeClr val="bg1"/>
                </a:solidFill>
                <a:effectLst/>
              </a:rPr>
              <a:t>Description of Netflix Dataset</a:t>
            </a:r>
            <a:br>
              <a:rPr lang="en-US" sz="3200" b="0" i="0">
                <a:solidFill>
                  <a:schemeClr val="bg1"/>
                </a:solidFill>
                <a:effectLst/>
                <a:latin typeface="Lato" panose="020F0502020204030203" pitchFamily="34" charset="0"/>
              </a:rPr>
            </a:br>
            <a:endParaRPr lang="en-US" sz="3200">
              <a:solidFill>
                <a:schemeClr val="bg1"/>
              </a:solidFill>
            </a:endParaRPr>
          </a:p>
        </p:txBody>
      </p:sp>
      <p:sp>
        <p:nvSpPr>
          <p:cNvPr id="11" name="Freeform 11">
            <a:extLst>
              <a:ext uri="{FF2B5EF4-FFF2-40B4-BE49-F238E27FC236}">
                <a16:creationId xmlns:a16="http://schemas.microsoft.com/office/drawing/2014/main" id="{60F880A6-33D3-4EEC-A780-B73559B9F2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useBgFill="1">
        <p:nvSpPr>
          <p:cNvPr id="13" name="Rectangle 12">
            <a:extLst>
              <a:ext uri="{FF2B5EF4-FFF2-40B4-BE49-F238E27FC236}">
                <a16:creationId xmlns:a16="http://schemas.microsoft.com/office/drawing/2014/main" id="{2C6246ED-0535-4496-A8F6-1E80CC4E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2">
            <a:extLst>
              <a:ext uri="{FF2B5EF4-FFF2-40B4-BE49-F238E27FC236}">
                <a16:creationId xmlns:a16="http://schemas.microsoft.com/office/drawing/2014/main" id="{B3025AE5-7836-42BC-71DD-9DC2D869D1DD}"/>
              </a:ext>
            </a:extLst>
          </p:cNvPr>
          <p:cNvGraphicFramePr>
            <a:graphicFrameLocks noGrp="1"/>
          </p:cNvGraphicFramePr>
          <p:nvPr>
            <p:ph idx="1"/>
            <p:extLst>
              <p:ext uri="{D42A27DB-BD31-4B8C-83A1-F6EECF244321}">
                <p14:modId xmlns:p14="http://schemas.microsoft.com/office/powerpoint/2010/main" val="326411077"/>
              </p:ext>
            </p:extLst>
          </p:nvPr>
        </p:nvGraphicFramePr>
        <p:xfrm>
          <a:off x="4713144" y="641551"/>
          <a:ext cx="6832212" cy="5264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4913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66DD2F-FBF5-41CE-A3F4-565352D95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7264EA-167E-4147-9554-159BAF31325D}"/>
              </a:ext>
            </a:extLst>
          </p:cNvPr>
          <p:cNvSpPr>
            <a:spLocks noGrp="1"/>
          </p:cNvSpPr>
          <p:nvPr>
            <p:ph type="title"/>
          </p:nvPr>
        </p:nvSpPr>
        <p:spPr>
          <a:xfrm>
            <a:off x="1794897" y="624110"/>
            <a:ext cx="9712998" cy="1280890"/>
          </a:xfrm>
        </p:spPr>
        <p:txBody>
          <a:bodyPr>
            <a:normAutofit/>
          </a:bodyPr>
          <a:lstStyle/>
          <a:p>
            <a:r>
              <a:rPr lang="en-US" b="0" i="0">
                <a:effectLst/>
              </a:rPr>
              <a:t>Derived variables</a:t>
            </a:r>
            <a:br>
              <a:rPr lang="en-US" b="0" i="0">
                <a:effectLst/>
                <a:latin typeface="Lato" panose="020F0502020204030203" pitchFamily="34" charset="0"/>
              </a:rPr>
            </a:br>
            <a:endParaRPr lang="en-US" dirty="0"/>
          </a:p>
        </p:txBody>
      </p:sp>
      <p:sp>
        <p:nvSpPr>
          <p:cNvPr id="11" name="Rectangle 10">
            <a:extLst>
              <a:ext uri="{FF2B5EF4-FFF2-40B4-BE49-F238E27FC236}">
                <a16:creationId xmlns:a16="http://schemas.microsoft.com/office/drawing/2014/main" id="{F46FCE2B-F2D2-466E-B0AA-8E341DB498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1">
            <a:extLst>
              <a:ext uri="{FF2B5EF4-FFF2-40B4-BE49-F238E27FC236}">
                <a16:creationId xmlns:a16="http://schemas.microsoft.com/office/drawing/2014/main" id="{2BD31C98-199A-4722-A1A5-4393A43E7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graphicFrame>
        <p:nvGraphicFramePr>
          <p:cNvPr id="5" name="Content Placeholder 2">
            <a:extLst>
              <a:ext uri="{FF2B5EF4-FFF2-40B4-BE49-F238E27FC236}">
                <a16:creationId xmlns:a16="http://schemas.microsoft.com/office/drawing/2014/main" id="{925B2625-2E4E-2F36-4BF4-9A5D5A4D3F53}"/>
              </a:ext>
            </a:extLst>
          </p:cNvPr>
          <p:cNvGraphicFramePr>
            <a:graphicFrameLocks noGrp="1"/>
          </p:cNvGraphicFramePr>
          <p:nvPr>
            <p:ph idx="1"/>
            <p:extLst>
              <p:ext uri="{D42A27DB-BD31-4B8C-83A1-F6EECF244321}">
                <p14:modId xmlns:p14="http://schemas.microsoft.com/office/powerpoint/2010/main" val="1405668973"/>
              </p:ext>
            </p:extLst>
          </p:nvPr>
        </p:nvGraphicFramePr>
        <p:xfrm>
          <a:off x="1794897" y="2222983"/>
          <a:ext cx="8987404" cy="36539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0088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p:txBody>
          <a:bodyPr vert="horz" lIns="91440" tIns="45720" rIns="91440" bIns="45720" rtlCol="0" anchor="ctr">
            <a:normAutofit/>
          </a:bodyPr>
          <a:lstStyle/>
          <a:p>
            <a:r>
              <a:rPr lang="en-US" i="0" kern="1200" cap="none" spc="0" baseline="0" dirty="0">
                <a:effectLst/>
                <a:latin typeface="+mj-lt"/>
                <a:ea typeface="+mn-ea"/>
                <a:cs typeface="+mn-cs"/>
              </a:rPr>
              <a:t>Analysis of Movies vs TV Shows</a:t>
            </a:r>
            <a:br>
              <a:rPr lang="en-US" b="1" i="0" kern="1200" cap="none" spc="0" baseline="0" dirty="0">
                <a:effectLst/>
                <a:latin typeface="+mj-lt"/>
                <a:ea typeface="+mn-ea"/>
                <a:cs typeface="+mn-cs"/>
              </a:rPr>
            </a:br>
            <a:endParaRPr lang="en-US" i="0" kern="1200" cap="none" spc="0" baseline="0" dirty="0">
              <a:effectLst/>
              <a:latin typeface="+mj-lt"/>
              <a:ea typeface="+mn-ea"/>
              <a:cs typeface="+mn-cs"/>
            </a:endParaRPr>
          </a:p>
        </p:txBody>
      </p:sp>
      <p:pic>
        <p:nvPicPr>
          <p:cNvPr id="5" name="Content Placeholder 4">
            <a:extLst>
              <a:ext uri="{FF2B5EF4-FFF2-40B4-BE49-F238E27FC236}">
                <a16:creationId xmlns:a16="http://schemas.microsoft.com/office/drawing/2014/main" id="{764A4341-8C38-4565-BD03-306BE8F5E414}"/>
              </a:ext>
            </a:extLst>
          </p:cNvPr>
          <p:cNvPicPr>
            <a:picLocks noGrp="1" noChangeAspect="1"/>
          </p:cNvPicPr>
          <p:nvPr>
            <p:ph sz="half" idx="1"/>
          </p:nvPr>
        </p:nvPicPr>
        <p:blipFill>
          <a:blip r:embed="rId2"/>
          <a:stretch>
            <a:fillRect/>
          </a:stretch>
        </p:blipFill>
        <p:spPr>
          <a:xfrm>
            <a:off x="2589213" y="2649962"/>
            <a:ext cx="4313237" cy="2745525"/>
          </a:xfrm>
          <a:noFill/>
        </p:spPr>
      </p:pic>
      <p:sp>
        <p:nvSpPr>
          <p:cNvPr id="6" name="TextBox 5">
            <a:extLst>
              <a:ext uri="{FF2B5EF4-FFF2-40B4-BE49-F238E27FC236}">
                <a16:creationId xmlns:a16="http://schemas.microsoft.com/office/drawing/2014/main" id="{21E134FC-7E3E-4789-9616-B4EA83BCF8C7}"/>
              </a:ext>
            </a:extLst>
          </p:cNvPr>
          <p:cNvSpPr txBox="1"/>
          <p:nvPr/>
        </p:nvSpPr>
        <p:spPr>
          <a:xfrm>
            <a:off x="6461760" y="2103120"/>
            <a:ext cx="4663440" cy="3749040"/>
          </a:xfrm>
          <a:prstGeom prst="rect">
            <a:avLst/>
          </a:prstGeom>
        </p:spPr>
        <p:txBody>
          <a:bodyPr vert="horz" lIns="91440" tIns="45720" rIns="91440" bIns="45720" rtlCol="0">
            <a:normAutofit/>
          </a:bodyPr>
          <a:lstStyle/>
          <a:p>
            <a:pPr indent="-182880">
              <a:spcAft>
                <a:spcPts val="600"/>
              </a:spcAft>
              <a:buClr>
                <a:schemeClr val="tx1">
                  <a:lumMod val="85000"/>
                  <a:lumOff val="15000"/>
                </a:schemeClr>
              </a:buClr>
              <a:buFont typeface="Garamond" pitchFamily="18" charset="0"/>
              <a:buChar char="◦"/>
            </a:pPr>
            <a:r>
              <a:rPr lang="en-US"/>
              <a:t>Netflix have more movies than TV Shows</a:t>
            </a:r>
          </a:p>
        </p:txBody>
      </p:sp>
    </p:spTree>
    <p:extLst>
      <p:ext uri="{BB962C8B-B14F-4D97-AF65-F5344CB8AC3E}">
        <p14:creationId xmlns:p14="http://schemas.microsoft.com/office/powerpoint/2010/main" val="2046913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50" name="Group 12">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4"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5"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6"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7"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8"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9"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20"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1"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2"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3"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4"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5"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51" name="Group 26">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8"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9"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30"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1"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2"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3"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4"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5"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6"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7"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8"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9"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52" name="Rectangle 40">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53"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useBgFill="1">
        <p:nvSpPr>
          <p:cNvPr id="54" name="Rectangle 44">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649224" y="645106"/>
            <a:ext cx="3650279" cy="1259894"/>
          </a:xfrm>
        </p:spPr>
        <p:txBody>
          <a:bodyPr vert="horz" lIns="91440" tIns="45720" rIns="91440" bIns="45720" rtlCol="0" anchor="t">
            <a:normAutofit/>
          </a:bodyPr>
          <a:lstStyle/>
          <a:p>
            <a:r>
              <a:rPr lang="en-US" b="0" i="0" cap="none" spc="0" baseline="0">
                <a:effectLst/>
              </a:rPr>
              <a:t>Movie Ratings Analysis</a:t>
            </a:r>
          </a:p>
        </p:txBody>
      </p:sp>
      <p:sp>
        <p:nvSpPr>
          <p:cNvPr id="55" name="Rectangle 46">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21E134FC-7E3E-4789-9616-B4EA83BCF8C7}"/>
              </a:ext>
            </a:extLst>
          </p:cNvPr>
          <p:cNvSpPr txBox="1"/>
          <p:nvPr/>
        </p:nvSpPr>
        <p:spPr>
          <a:xfrm>
            <a:off x="649225" y="2133600"/>
            <a:ext cx="3650278" cy="3759253"/>
          </a:xfrm>
          <a:prstGeom prst="rect">
            <a:avLst/>
          </a:prstGeom>
        </p:spPr>
        <p:txBody>
          <a:bodyPr vert="horz" lIns="91440" tIns="45720" rIns="91440" bIns="45720" rtlCol="0">
            <a:normAutofit/>
          </a:bodyPr>
          <a:lstStyle/>
          <a:p>
            <a:pPr indent="-182880">
              <a:lnSpc>
                <a:spcPct val="90000"/>
              </a:lnSpc>
              <a:spcBef>
                <a:spcPts val="1000"/>
              </a:spcBef>
              <a:buClr>
                <a:schemeClr val="accent1"/>
              </a:buClr>
              <a:buFont typeface="Wingdings 3" charset="2"/>
              <a:buChar char=""/>
            </a:pPr>
            <a:r>
              <a:rPr lang="en-US" sz="1300">
                <a:solidFill>
                  <a:schemeClr val="tx1">
                    <a:lumMod val="75000"/>
                    <a:lumOff val="25000"/>
                  </a:schemeClr>
                </a:solidFill>
              </a:rPr>
              <a:t>The largest count of movies are made with the 'TV-MA' rating."TV-MA" is a rating assigned by the TV Parental Guidelines to a television program that was designed for mature audiences only.</a:t>
            </a:r>
          </a:p>
          <a:p>
            <a:pPr indent="-182880">
              <a:lnSpc>
                <a:spcPct val="90000"/>
              </a:lnSpc>
              <a:spcBef>
                <a:spcPts val="1000"/>
              </a:spcBef>
              <a:buClr>
                <a:schemeClr val="accent1"/>
              </a:buClr>
              <a:buFont typeface="Wingdings 3" charset="2"/>
              <a:buChar char=""/>
            </a:pPr>
            <a:endParaRPr lang="en-US" sz="1300">
              <a:solidFill>
                <a:schemeClr val="tx1">
                  <a:lumMod val="75000"/>
                  <a:lumOff val="25000"/>
                </a:schemeClr>
              </a:solidFill>
            </a:endParaRPr>
          </a:p>
          <a:p>
            <a:pPr indent="-182880">
              <a:lnSpc>
                <a:spcPct val="90000"/>
              </a:lnSpc>
              <a:spcBef>
                <a:spcPts val="1000"/>
              </a:spcBef>
              <a:buClr>
                <a:schemeClr val="accent1"/>
              </a:buClr>
              <a:buFont typeface="Wingdings 3" charset="2"/>
              <a:buChar char=""/>
            </a:pPr>
            <a:r>
              <a:rPr lang="en-US" sz="1300">
                <a:solidFill>
                  <a:schemeClr val="tx1">
                    <a:lumMod val="75000"/>
                    <a:lumOff val="25000"/>
                  </a:schemeClr>
                </a:solidFill>
              </a:rPr>
              <a:t>Second largest is the 'TV-14' stands for content that may be inappropriate for children younger than 14 years of age.</a:t>
            </a:r>
          </a:p>
          <a:p>
            <a:pPr indent="-182880">
              <a:lnSpc>
                <a:spcPct val="90000"/>
              </a:lnSpc>
              <a:spcBef>
                <a:spcPts val="1000"/>
              </a:spcBef>
              <a:buClr>
                <a:schemeClr val="accent1"/>
              </a:buClr>
              <a:buFont typeface="Wingdings 3" charset="2"/>
              <a:buChar char=""/>
            </a:pPr>
            <a:endParaRPr lang="en-US" sz="1300">
              <a:solidFill>
                <a:schemeClr val="tx1">
                  <a:lumMod val="75000"/>
                  <a:lumOff val="25000"/>
                </a:schemeClr>
              </a:solidFill>
            </a:endParaRPr>
          </a:p>
          <a:p>
            <a:pPr indent="-182880">
              <a:lnSpc>
                <a:spcPct val="90000"/>
              </a:lnSpc>
              <a:spcBef>
                <a:spcPts val="1000"/>
              </a:spcBef>
              <a:buClr>
                <a:schemeClr val="accent1"/>
              </a:buClr>
              <a:buFont typeface="Wingdings 3" charset="2"/>
              <a:buChar char=""/>
            </a:pPr>
            <a:r>
              <a:rPr lang="en-US" sz="1300">
                <a:solidFill>
                  <a:schemeClr val="tx1">
                    <a:lumMod val="75000"/>
                    <a:lumOff val="25000"/>
                  </a:schemeClr>
                </a:solidFill>
              </a:rPr>
              <a:t>Third largest is the very popular 'R' rating. An R-rated film is a film that has been assessed as having material which may be unsuitable for children under the age of 17 by the Motion Picture Association of America.</a:t>
            </a:r>
          </a:p>
        </p:txBody>
      </p:sp>
      <p:pic>
        <p:nvPicPr>
          <p:cNvPr id="8" name="Picture 7">
            <a:extLst>
              <a:ext uri="{FF2B5EF4-FFF2-40B4-BE49-F238E27FC236}">
                <a16:creationId xmlns:a16="http://schemas.microsoft.com/office/drawing/2014/main" id="{6957CBDD-FF7F-475F-9BD0-9B9A3217DC1B}"/>
              </a:ext>
            </a:extLst>
          </p:cNvPr>
          <p:cNvPicPr>
            <a:picLocks noChangeAspect="1"/>
          </p:cNvPicPr>
          <p:nvPr/>
        </p:nvPicPr>
        <p:blipFill>
          <a:blip r:embed="rId2"/>
          <a:stretch>
            <a:fillRect/>
          </a:stretch>
        </p:blipFill>
        <p:spPr>
          <a:xfrm>
            <a:off x="4718342" y="640080"/>
            <a:ext cx="6755979" cy="5252773"/>
          </a:xfrm>
          <a:prstGeom prst="rect">
            <a:avLst/>
          </a:prstGeom>
          <a:noFill/>
        </p:spPr>
      </p:pic>
      <p:sp>
        <p:nvSpPr>
          <p:cNvPr id="49"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641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3"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4"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5"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6"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7"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8"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9"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0"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1"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2"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3"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4"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6" name="Group 25">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7"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8"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9"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0"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1"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2"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3"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4"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5"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6"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7"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8"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0" name="Rectangle 39">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2"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useBgFill="1">
        <p:nvSpPr>
          <p:cNvPr id="44" name="Rectangle 43">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649224" y="645106"/>
            <a:ext cx="3650279" cy="1259894"/>
          </a:xfrm>
        </p:spPr>
        <p:txBody>
          <a:bodyPr vert="horz" lIns="91440" tIns="45720" rIns="91440" bIns="45720" rtlCol="0" anchor="t">
            <a:normAutofit/>
          </a:bodyPr>
          <a:lstStyle/>
          <a:p>
            <a:r>
              <a:rPr lang="en-US" b="0" i="0" cap="none" spc="0" baseline="0">
                <a:effectLst/>
              </a:rPr>
              <a:t>Popular Genres Analysis</a:t>
            </a:r>
          </a:p>
        </p:txBody>
      </p:sp>
      <p:sp>
        <p:nvSpPr>
          <p:cNvPr id="46" name="Rectangle 45">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21E134FC-7E3E-4789-9616-B4EA83BCF8C7}"/>
              </a:ext>
            </a:extLst>
          </p:cNvPr>
          <p:cNvSpPr txBox="1"/>
          <p:nvPr/>
        </p:nvSpPr>
        <p:spPr>
          <a:xfrm>
            <a:off x="649225" y="2133600"/>
            <a:ext cx="3650278" cy="3759253"/>
          </a:xfrm>
          <a:prstGeom prst="rect">
            <a:avLst/>
          </a:prstGeom>
        </p:spPr>
        <p:txBody>
          <a:bodyPr vert="horz" lIns="91440" tIns="45720" rIns="91440" bIns="45720" rtlCol="0">
            <a:normAutofit/>
          </a:bodyPr>
          <a:lstStyle/>
          <a:p>
            <a:pPr indent="-182880">
              <a:lnSpc>
                <a:spcPct val="90000"/>
              </a:lnSpc>
              <a:spcBef>
                <a:spcPts val="1000"/>
              </a:spcBef>
              <a:buClr>
                <a:schemeClr val="accent1"/>
              </a:buClr>
              <a:buFont typeface="Wingdings 3" charset="2"/>
              <a:buChar char=""/>
            </a:pPr>
            <a:r>
              <a:rPr lang="en-US" sz="1700">
                <a:solidFill>
                  <a:schemeClr val="tx1">
                    <a:lumMod val="75000"/>
                    <a:lumOff val="25000"/>
                  </a:schemeClr>
                </a:solidFill>
              </a:rPr>
              <a:t>In terms of genres, international movies takes the cake surprisingly followed by dramas and comedies. Even though the United States has the most content available, it looks like Netflix has decided to release a ton of international movies. </a:t>
            </a:r>
          </a:p>
          <a:p>
            <a:pPr indent="-182880">
              <a:lnSpc>
                <a:spcPct val="90000"/>
              </a:lnSpc>
              <a:spcBef>
                <a:spcPts val="1000"/>
              </a:spcBef>
              <a:buClr>
                <a:schemeClr val="accent1"/>
              </a:buClr>
              <a:buFont typeface="Wingdings 3" charset="2"/>
              <a:buChar char=""/>
            </a:pPr>
            <a:r>
              <a:rPr lang="en-US" sz="1700">
                <a:solidFill>
                  <a:schemeClr val="tx1">
                    <a:lumMod val="75000"/>
                    <a:lumOff val="25000"/>
                  </a:schemeClr>
                </a:solidFill>
              </a:rPr>
              <a:t>The reason for this could be that most Netflix subscribers aren't actually in the United States, but rather the majority of viewers are actually international subscribers.</a:t>
            </a:r>
          </a:p>
        </p:txBody>
      </p:sp>
      <p:pic>
        <p:nvPicPr>
          <p:cNvPr id="7" name="Picture 6">
            <a:extLst>
              <a:ext uri="{FF2B5EF4-FFF2-40B4-BE49-F238E27FC236}">
                <a16:creationId xmlns:a16="http://schemas.microsoft.com/office/drawing/2014/main" id="{06FEC678-CD94-4EED-B580-82F651919563}"/>
              </a:ext>
            </a:extLst>
          </p:cNvPr>
          <p:cNvPicPr>
            <a:picLocks noChangeAspect="1"/>
          </p:cNvPicPr>
          <p:nvPr/>
        </p:nvPicPr>
        <p:blipFill>
          <a:blip r:embed="rId2"/>
          <a:stretch>
            <a:fillRect/>
          </a:stretch>
        </p:blipFill>
        <p:spPr>
          <a:xfrm>
            <a:off x="5161821" y="640080"/>
            <a:ext cx="5869020" cy="5252773"/>
          </a:xfrm>
          <a:prstGeom prst="rect">
            <a:avLst/>
          </a:prstGeom>
          <a:noFill/>
        </p:spPr>
      </p:pic>
      <p:sp>
        <p:nvSpPr>
          <p:cNvPr id="48"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4643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p:txBody>
          <a:bodyPr vert="horz" lIns="91440" tIns="45720" rIns="91440" bIns="45720" rtlCol="0" anchor="ctr">
            <a:normAutofit/>
          </a:bodyPr>
          <a:lstStyle/>
          <a:p>
            <a:r>
              <a:rPr lang="en-US" b="0" i="0" kern="1200" cap="none" spc="0" baseline="0" dirty="0">
                <a:effectLst/>
                <a:latin typeface="+mj-lt"/>
                <a:ea typeface="+mn-ea"/>
                <a:cs typeface="+mn-cs"/>
              </a:rPr>
              <a:t>Released Year Wise Analysis</a:t>
            </a:r>
          </a:p>
        </p:txBody>
      </p:sp>
      <p:pic>
        <p:nvPicPr>
          <p:cNvPr id="8" name="Picture 7" descr="Chart, bar chart&#10;&#10;Description automatically generated">
            <a:extLst>
              <a:ext uri="{FF2B5EF4-FFF2-40B4-BE49-F238E27FC236}">
                <a16:creationId xmlns:a16="http://schemas.microsoft.com/office/drawing/2014/main" id="{8C4FE401-4F58-4AA2-859E-F822AB36422B}"/>
              </a:ext>
            </a:extLst>
          </p:cNvPr>
          <p:cNvPicPr>
            <a:picLocks noChangeAspect="1"/>
          </p:cNvPicPr>
          <p:nvPr/>
        </p:nvPicPr>
        <p:blipFill>
          <a:blip r:embed="rId2"/>
          <a:stretch>
            <a:fillRect/>
          </a:stretch>
        </p:blipFill>
        <p:spPr>
          <a:xfrm>
            <a:off x="1066800" y="2182216"/>
            <a:ext cx="4663440" cy="3590848"/>
          </a:xfrm>
          <a:prstGeom prst="rect">
            <a:avLst/>
          </a:prstGeom>
          <a:noFill/>
        </p:spPr>
      </p:pic>
      <p:sp>
        <p:nvSpPr>
          <p:cNvPr id="6" name="TextBox 5">
            <a:extLst>
              <a:ext uri="{FF2B5EF4-FFF2-40B4-BE49-F238E27FC236}">
                <a16:creationId xmlns:a16="http://schemas.microsoft.com/office/drawing/2014/main" id="{21E134FC-7E3E-4789-9616-B4EA83BCF8C7}"/>
              </a:ext>
            </a:extLst>
          </p:cNvPr>
          <p:cNvSpPr txBox="1"/>
          <p:nvPr/>
        </p:nvSpPr>
        <p:spPr>
          <a:xfrm>
            <a:off x="6461760" y="2103120"/>
            <a:ext cx="4663440" cy="3749040"/>
          </a:xfrm>
          <a:prstGeom prst="rect">
            <a:avLst/>
          </a:prstGeom>
        </p:spPr>
        <p:txBody>
          <a:bodyPr vert="horz" lIns="91440" tIns="45720" rIns="91440" bIns="45720" rtlCol="0">
            <a:normAutofit/>
          </a:bodyPr>
          <a:lstStyle/>
          <a:p>
            <a:pPr indent="-182880">
              <a:spcBef>
                <a:spcPts val="800"/>
              </a:spcBef>
              <a:buClr>
                <a:schemeClr val="tx1">
                  <a:lumMod val="85000"/>
                  <a:lumOff val="15000"/>
                </a:schemeClr>
              </a:buClr>
              <a:buFont typeface="Garamond" pitchFamily="18" charset="0"/>
              <a:buChar char="◦"/>
            </a:pPr>
            <a:r>
              <a:rPr lang="en-US" dirty="0"/>
              <a:t>So, 2018 was the year when most of the movies were released.</a:t>
            </a:r>
          </a:p>
        </p:txBody>
      </p:sp>
    </p:spTree>
    <p:extLst>
      <p:ext uri="{BB962C8B-B14F-4D97-AF65-F5344CB8AC3E}">
        <p14:creationId xmlns:p14="http://schemas.microsoft.com/office/powerpoint/2010/main" val="4025790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p:txBody>
          <a:bodyPr vert="horz" lIns="91440" tIns="45720" rIns="91440" bIns="45720" rtlCol="0" anchor="ctr">
            <a:normAutofit/>
          </a:bodyPr>
          <a:lstStyle/>
          <a:p>
            <a:r>
              <a:rPr lang="en-US" b="0" i="0" kern="1200" cap="none" spc="0" baseline="0" dirty="0">
                <a:effectLst/>
                <a:latin typeface="+mj-lt"/>
                <a:ea typeface="+mn-ea"/>
                <a:cs typeface="+mn-cs"/>
              </a:rPr>
              <a:t>Added Year Wise Analysis</a:t>
            </a:r>
          </a:p>
        </p:txBody>
      </p:sp>
      <p:pic>
        <p:nvPicPr>
          <p:cNvPr id="4" name="Picture 3">
            <a:extLst>
              <a:ext uri="{FF2B5EF4-FFF2-40B4-BE49-F238E27FC236}">
                <a16:creationId xmlns:a16="http://schemas.microsoft.com/office/drawing/2014/main" id="{4AF9FC0C-A6DD-473E-B362-621A9BFB1BB6}"/>
              </a:ext>
            </a:extLst>
          </p:cNvPr>
          <p:cNvPicPr>
            <a:picLocks noChangeAspect="1"/>
          </p:cNvPicPr>
          <p:nvPr/>
        </p:nvPicPr>
        <p:blipFill>
          <a:blip r:embed="rId2"/>
          <a:stretch>
            <a:fillRect/>
          </a:stretch>
        </p:blipFill>
        <p:spPr>
          <a:xfrm>
            <a:off x="1066800" y="2147240"/>
            <a:ext cx="4663440" cy="3660799"/>
          </a:xfrm>
          <a:prstGeom prst="rect">
            <a:avLst/>
          </a:prstGeom>
          <a:noFill/>
        </p:spPr>
      </p:pic>
      <p:sp>
        <p:nvSpPr>
          <p:cNvPr id="6" name="TextBox 5">
            <a:extLst>
              <a:ext uri="{FF2B5EF4-FFF2-40B4-BE49-F238E27FC236}">
                <a16:creationId xmlns:a16="http://schemas.microsoft.com/office/drawing/2014/main" id="{21E134FC-7E3E-4789-9616-B4EA83BCF8C7}"/>
              </a:ext>
            </a:extLst>
          </p:cNvPr>
          <p:cNvSpPr txBox="1"/>
          <p:nvPr/>
        </p:nvSpPr>
        <p:spPr>
          <a:xfrm>
            <a:off x="6461760" y="2103120"/>
            <a:ext cx="4663440" cy="3749040"/>
          </a:xfrm>
          <a:prstGeom prst="rect">
            <a:avLst/>
          </a:prstGeom>
        </p:spPr>
        <p:txBody>
          <a:bodyPr vert="horz" lIns="91440" tIns="45720" rIns="91440" bIns="45720" rtlCol="0">
            <a:normAutofit/>
          </a:bodyPr>
          <a:lstStyle/>
          <a:p>
            <a:pPr indent="-182880">
              <a:spcBef>
                <a:spcPts val="800"/>
              </a:spcBef>
              <a:buClr>
                <a:schemeClr val="tx1">
                  <a:lumMod val="85000"/>
                  <a:lumOff val="15000"/>
                </a:schemeClr>
              </a:buClr>
              <a:buFont typeface="Garamond" pitchFamily="18" charset="0"/>
              <a:buChar char="◦"/>
            </a:pPr>
            <a:r>
              <a:rPr lang="en-US" dirty="0"/>
              <a:t>So, 2019 was the year when most of the movies were added on Netflix.</a:t>
            </a:r>
          </a:p>
        </p:txBody>
      </p:sp>
    </p:spTree>
    <p:extLst>
      <p:ext uri="{BB962C8B-B14F-4D97-AF65-F5344CB8AC3E}">
        <p14:creationId xmlns:p14="http://schemas.microsoft.com/office/powerpoint/2010/main" val="2649589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p:txBody>
          <a:bodyPr vert="horz" lIns="91440" tIns="45720" rIns="91440" bIns="45720" rtlCol="0" anchor="ctr">
            <a:normAutofit/>
          </a:bodyPr>
          <a:lstStyle/>
          <a:p>
            <a:r>
              <a:rPr lang="en-US" b="0" i="0" kern="1200" cap="none" spc="0" baseline="0" dirty="0">
                <a:effectLst/>
                <a:latin typeface="+mj-lt"/>
                <a:ea typeface="+mn-ea"/>
                <a:cs typeface="+mn-cs"/>
              </a:rPr>
              <a:t>Added Month Wise Analysis</a:t>
            </a:r>
          </a:p>
        </p:txBody>
      </p:sp>
      <p:pic>
        <p:nvPicPr>
          <p:cNvPr id="5" name="Picture 4" descr="Chart, bar chart&#10;&#10;Description automatically generated">
            <a:extLst>
              <a:ext uri="{FF2B5EF4-FFF2-40B4-BE49-F238E27FC236}">
                <a16:creationId xmlns:a16="http://schemas.microsoft.com/office/drawing/2014/main" id="{9091C55B-B6C7-436E-B6DB-0161226AAF2E}"/>
              </a:ext>
            </a:extLst>
          </p:cNvPr>
          <p:cNvPicPr>
            <a:picLocks noChangeAspect="1"/>
          </p:cNvPicPr>
          <p:nvPr/>
        </p:nvPicPr>
        <p:blipFill>
          <a:blip r:embed="rId2"/>
          <a:stretch>
            <a:fillRect/>
          </a:stretch>
        </p:blipFill>
        <p:spPr>
          <a:xfrm>
            <a:off x="1091418" y="2103120"/>
            <a:ext cx="4614203" cy="3749040"/>
          </a:xfrm>
          <a:prstGeom prst="rect">
            <a:avLst/>
          </a:prstGeom>
          <a:noFill/>
        </p:spPr>
      </p:pic>
      <p:sp>
        <p:nvSpPr>
          <p:cNvPr id="6" name="TextBox 5">
            <a:extLst>
              <a:ext uri="{FF2B5EF4-FFF2-40B4-BE49-F238E27FC236}">
                <a16:creationId xmlns:a16="http://schemas.microsoft.com/office/drawing/2014/main" id="{21E134FC-7E3E-4789-9616-B4EA83BCF8C7}"/>
              </a:ext>
            </a:extLst>
          </p:cNvPr>
          <p:cNvSpPr txBox="1"/>
          <p:nvPr/>
        </p:nvSpPr>
        <p:spPr>
          <a:xfrm>
            <a:off x="6461760" y="2103120"/>
            <a:ext cx="4663440" cy="3749040"/>
          </a:xfrm>
          <a:prstGeom prst="rect">
            <a:avLst/>
          </a:prstGeom>
        </p:spPr>
        <p:txBody>
          <a:bodyPr vert="horz" lIns="91440" tIns="45720" rIns="91440" bIns="45720" rtlCol="0">
            <a:normAutofit/>
          </a:bodyPr>
          <a:lstStyle/>
          <a:p>
            <a:pPr indent="-182880">
              <a:spcBef>
                <a:spcPts val="800"/>
              </a:spcBef>
              <a:buClr>
                <a:schemeClr val="tx1">
                  <a:lumMod val="85000"/>
                  <a:lumOff val="15000"/>
                </a:schemeClr>
              </a:buClr>
              <a:buFont typeface="Garamond" pitchFamily="18" charset="0"/>
              <a:buChar char="◦"/>
            </a:pPr>
            <a:r>
              <a:rPr lang="en-US" dirty="0"/>
              <a:t>So, Dec is the month when most of the movies were added on Netflix.</a:t>
            </a:r>
          </a:p>
        </p:txBody>
      </p:sp>
    </p:spTree>
    <p:extLst>
      <p:ext uri="{BB962C8B-B14F-4D97-AF65-F5344CB8AC3E}">
        <p14:creationId xmlns:p14="http://schemas.microsoft.com/office/powerpoint/2010/main" val="2878474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p:txBody>
          <a:bodyPr vert="horz" lIns="91440" tIns="45720" rIns="91440" bIns="45720" rtlCol="0" anchor="ctr">
            <a:normAutofit/>
          </a:bodyPr>
          <a:lstStyle/>
          <a:p>
            <a:r>
              <a:rPr lang="en-US" b="0" i="0" kern="1200" cap="none" spc="0" baseline="0" dirty="0">
                <a:effectLst/>
                <a:latin typeface="+mj-lt"/>
                <a:ea typeface="+mn-ea"/>
                <a:cs typeface="+mn-cs"/>
              </a:rPr>
              <a:t>Countries with highest rated content Analysis</a:t>
            </a:r>
          </a:p>
        </p:txBody>
      </p:sp>
      <p:pic>
        <p:nvPicPr>
          <p:cNvPr id="4" name="Picture 3" descr="Chart, bar chart&#10;&#10;Description automatically generated">
            <a:extLst>
              <a:ext uri="{FF2B5EF4-FFF2-40B4-BE49-F238E27FC236}">
                <a16:creationId xmlns:a16="http://schemas.microsoft.com/office/drawing/2014/main" id="{8B607A82-0538-4A28-9585-0F65824B754D}"/>
              </a:ext>
            </a:extLst>
          </p:cNvPr>
          <p:cNvPicPr>
            <a:picLocks noChangeAspect="1"/>
          </p:cNvPicPr>
          <p:nvPr/>
        </p:nvPicPr>
        <p:blipFill>
          <a:blip r:embed="rId2"/>
          <a:stretch>
            <a:fillRect/>
          </a:stretch>
        </p:blipFill>
        <p:spPr>
          <a:xfrm>
            <a:off x="1066800" y="2298802"/>
            <a:ext cx="4663440" cy="3357676"/>
          </a:xfrm>
          <a:prstGeom prst="rect">
            <a:avLst/>
          </a:prstGeom>
          <a:noFill/>
        </p:spPr>
      </p:pic>
      <p:sp>
        <p:nvSpPr>
          <p:cNvPr id="6" name="TextBox 5">
            <a:extLst>
              <a:ext uri="{FF2B5EF4-FFF2-40B4-BE49-F238E27FC236}">
                <a16:creationId xmlns:a16="http://schemas.microsoft.com/office/drawing/2014/main" id="{21E134FC-7E3E-4789-9616-B4EA83BCF8C7}"/>
              </a:ext>
            </a:extLst>
          </p:cNvPr>
          <p:cNvSpPr txBox="1"/>
          <p:nvPr/>
        </p:nvSpPr>
        <p:spPr>
          <a:xfrm>
            <a:off x="6461760" y="2103120"/>
            <a:ext cx="4663440" cy="3749040"/>
          </a:xfrm>
          <a:prstGeom prst="rect">
            <a:avLst/>
          </a:prstGeom>
        </p:spPr>
        <p:txBody>
          <a:bodyPr vert="horz" lIns="91440" tIns="45720" rIns="91440" bIns="45720" rtlCol="0">
            <a:normAutofit/>
          </a:bodyPr>
          <a:lstStyle/>
          <a:p>
            <a:pPr indent="-182880">
              <a:spcBef>
                <a:spcPts val="800"/>
              </a:spcBef>
              <a:buClr>
                <a:schemeClr val="tx1">
                  <a:lumMod val="85000"/>
                  <a:lumOff val="15000"/>
                </a:schemeClr>
              </a:buClr>
              <a:buFont typeface="Garamond" pitchFamily="18" charset="0"/>
              <a:buChar char="◦"/>
            </a:pPr>
            <a:r>
              <a:rPr lang="en-US" dirty="0"/>
              <a:t>United States have highest rated content on the Netflix.</a:t>
            </a:r>
          </a:p>
        </p:txBody>
      </p:sp>
    </p:spTree>
    <p:extLst>
      <p:ext uri="{BB962C8B-B14F-4D97-AF65-F5344CB8AC3E}">
        <p14:creationId xmlns:p14="http://schemas.microsoft.com/office/powerpoint/2010/main" val="1255771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3"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4"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5"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6"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7"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8"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9"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0"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1"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2"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3"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5" name="Group 24">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6"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7"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8"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9"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0"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1"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2"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3"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4"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5"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6"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7"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9" name="Rectangle 38">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1" name="Freeform 11">
            <a:extLst>
              <a:ext uri="{FF2B5EF4-FFF2-40B4-BE49-F238E27FC236}">
                <a16:creationId xmlns:a16="http://schemas.microsoft.com/office/drawing/2014/main" id="{A57352BE-A213-4040-BE8E-D4A925AD9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useBgFill="1">
        <p:nvSpPr>
          <p:cNvPr id="43" name="Rectangle 42">
            <a:extLst>
              <a:ext uri="{FF2B5EF4-FFF2-40B4-BE49-F238E27FC236}">
                <a16:creationId xmlns:a16="http://schemas.microsoft.com/office/drawing/2014/main" id="{B2EC7880-C5D9-40A8-A6B0-3198AD07A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649224" y="645106"/>
            <a:ext cx="3650279" cy="1259894"/>
          </a:xfrm>
        </p:spPr>
        <p:txBody>
          <a:bodyPr vert="horz" lIns="91440" tIns="45720" rIns="91440" bIns="45720" rtlCol="0" anchor="t">
            <a:normAutofit/>
          </a:bodyPr>
          <a:lstStyle/>
          <a:p>
            <a:pPr>
              <a:lnSpc>
                <a:spcPct val="90000"/>
              </a:lnSpc>
            </a:pPr>
            <a:r>
              <a:rPr lang="en-US" sz="2800" i="0">
                <a:effectLst/>
              </a:rPr>
              <a:t>Mean, Mode, </a:t>
            </a:r>
            <a:r>
              <a:rPr lang="en-US" sz="2800"/>
              <a:t>spread,</a:t>
            </a:r>
            <a:r>
              <a:rPr lang="en-US" sz="2800" i="0">
                <a:effectLst/>
              </a:rPr>
              <a:t>Std Deviation</a:t>
            </a:r>
            <a:endParaRPr lang="en-US" sz="2800" i="0" cap="none" spc="0" baseline="0">
              <a:effectLst/>
            </a:endParaRPr>
          </a:p>
        </p:txBody>
      </p:sp>
      <p:sp>
        <p:nvSpPr>
          <p:cNvPr id="45" name="Rectangle 44">
            <a:extLst>
              <a:ext uri="{FF2B5EF4-FFF2-40B4-BE49-F238E27FC236}">
                <a16:creationId xmlns:a16="http://schemas.microsoft.com/office/drawing/2014/main" id="{94543A62-A2AB-454A-878E-D3D9190D5F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21E134FC-7E3E-4789-9616-B4EA83BCF8C7}"/>
              </a:ext>
            </a:extLst>
          </p:cNvPr>
          <p:cNvSpPr txBox="1"/>
          <p:nvPr/>
        </p:nvSpPr>
        <p:spPr>
          <a:xfrm>
            <a:off x="649225" y="2133600"/>
            <a:ext cx="3650278" cy="3759253"/>
          </a:xfrm>
          <a:prstGeom prst="rect">
            <a:avLst/>
          </a:prstGeom>
        </p:spPr>
        <p:txBody>
          <a:bodyPr vert="horz" lIns="91440" tIns="45720" rIns="91440" bIns="45720" rtlCol="0">
            <a:normAutofit/>
          </a:bodyPr>
          <a:lstStyle/>
          <a:p>
            <a:pPr indent="-182880">
              <a:lnSpc>
                <a:spcPct val="90000"/>
              </a:lnSpc>
              <a:spcBef>
                <a:spcPts val="1000"/>
              </a:spcBef>
              <a:buClr>
                <a:schemeClr val="accent1"/>
              </a:buClr>
              <a:buFont typeface="Wingdings 3" charset="2"/>
              <a:buChar char=""/>
            </a:pPr>
            <a:r>
              <a:rPr lang="en-US" sz="1700">
                <a:solidFill>
                  <a:schemeClr val="tx1">
                    <a:lumMod val="75000"/>
                    <a:lumOff val="25000"/>
                  </a:schemeClr>
                </a:solidFill>
              </a:rPr>
              <a:t>There are 7770 total records in the Netflix dataset</a:t>
            </a:r>
          </a:p>
          <a:p>
            <a:pPr indent="-182880">
              <a:lnSpc>
                <a:spcPct val="90000"/>
              </a:lnSpc>
              <a:spcBef>
                <a:spcPts val="1000"/>
              </a:spcBef>
              <a:buClr>
                <a:schemeClr val="accent1"/>
              </a:buClr>
              <a:buFont typeface="Wingdings 3" charset="2"/>
              <a:buChar char=""/>
            </a:pPr>
            <a:r>
              <a:rPr lang="en-US" sz="1700">
                <a:solidFill>
                  <a:schemeClr val="tx1">
                    <a:lumMod val="75000"/>
                    <a:lumOff val="25000"/>
                  </a:schemeClr>
                </a:solidFill>
              </a:rPr>
              <a:t>Release year for Netflix content have spread between 1925 to 2021 with mean as 2013 and std dev of 8.7 years.</a:t>
            </a:r>
          </a:p>
          <a:p>
            <a:pPr indent="-182880">
              <a:lnSpc>
                <a:spcPct val="90000"/>
              </a:lnSpc>
              <a:spcBef>
                <a:spcPts val="1000"/>
              </a:spcBef>
              <a:buClr>
                <a:schemeClr val="accent1"/>
              </a:buClr>
              <a:buFont typeface="Wingdings 3" charset="2"/>
              <a:buChar char=""/>
            </a:pPr>
            <a:r>
              <a:rPr lang="en-US" sz="1700">
                <a:solidFill>
                  <a:schemeClr val="tx1">
                    <a:lumMod val="75000"/>
                    <a:lumOff val="25000"/>
                  </a:schemeClr>
                </a:solidFill>
              </a:rPr>
              <a:t>Added year for Netflix content have spread between 2008 to 2021 with mean as 2018 and std dev of 1.3 years.</a:t>
            </a:r>
          </a:p>
          <a:p>
            <a:pPr indent="-182880">
              <a:lnSpc>
                <a:spcPct val="90000"/>
              </a:lnSpc>
              <a:spcBef>
                <a:spcPts val="1000"/>
              </a:spcBef>
              <a:buClr>
                <a:schemeClr val="accent1"/>
              </a:buClr>
              <a:buFont typeface="Wingdings 3" charset="2"/>
              <a:buChar char=""/>
            </a:pPr>
            <a:r>
              <a:rPr lang="en-US" sz="1700">
                <a:solidFill>
                  <a:schemeClr val="tx1">
                    <a:lumMod val="75000"/>
                    <a:lumOff val="25000"/>
                  </a:schemeClr>
                </a:solidFill>
              </a:rPr>
              <a:t>Added month for Netflix content have spread between 1 to 12 with mean as 6.7 and std dev of 3.5 months.</a:t>
            </a:r>
          </a:p>
          <a:p>
            <a:pPr indent="-182880">
              <a:lnSpc>
                <a:spcPct val="90000"/>
              </a:lnSpc>
              <a:spcBef>
                <a:spcPts val="1000"/>
              </a:spcBef>
              <a:buClr>
                <a:schemeClr val="accent1"/>
              </a:buClr>
              <a:buFont typeface="Wingdings 3" charset="2"/>
              <a:buChar char=""/>
            </a:pPr>
            <a:endParaRPr lang="en-US" sz="1700">
              <a:solidFill>
                <a:schemeClr val="tx1">
                  <a:lumMod val="75000"/>
                  <a:lumOff val="25000"/>
                </a:schemeClr>
              </a:solidFill>
            </a:endParaRPr>
          </a:p>
          <a:p>
            <a:pPr indent="-182880">
              <a:lnSpc>
                <a:spcPct val="90000"/>
              </a:lnSpc>
              <a:spcBef>
                <a:spcPts val="1000"/>
              </a:spcBef>
              <a:buClr>
                <a:schemeClr val="accent1"/>
              </a:buClr>
              <a:buFont typeface="Wingdings 3" charset="2"/>
              <a:buChar char=""/>
            </a:pPr>
            <a:endParaRPr lang="en-US" sz="1700">
              <a:solidFill>
                <a:schemeClr val="tx1">
                  <a:lumMod val="75000"/>
                  <a:lumOff val="25000"/>
                </a:schemeClr>
              </a:solidFill>
            </a:endParaRPr>
          </a:p>
        </p:txBody>
      </p:sp>
      <p:pic>
        <p:nvPicPr>
          <p:cNvPr id="5" name="Picture 4">
            <a:extLst>
              <a:ext uri="{FF2B5EF4-FFF2-40B4-BE49-F238E27FC236}">
                <a16:creationId xmlns:a16="http://schemas.microsoft.com/office/drawing/2014/main" id="{969B8ADB-0BD5-437E-8F48-C75ECC17674B}"/>
              </a:ext>
            </a:extLst>
          </p:cNvPr>
          <p:cNvPicPr>
            <a:picLocks noChangeAspect="1"/>
          </p:cNvPicPr>
          <p:nvPr/>
        </p:nvPicPr>
        <p:blipFill rotWithShape="1">
          <a:blip r:embed="rId2"/>
          <a:srcRect t="2771" b="71"/>
          <a:stretch/>
        </p:blipFill>
        <p:spPr>
          <a:xfrm>
            <a:off x="4619543" y="640080"/>
            <a:ext cx="6953577" cy="5252773"/>
          </a:xfrm>
          <a:prstGeom prst="rect">
            <a:avLst/>
          </a:prstGeom>
        </p:spPr>
      </p:pic>
      <p:sp>
        <p:nvSpPr>
          <p:cNvPr id="47" name="Freeform 11">
            <a:extLst>
              <a:ext uri="{FF2B5EF4-FFF2-40B4-BE49-F238E27FC236}">
                <a16:creationId xmlns:a16="http://schemas.microsoft.com/office/drawing/2014/main" id="{50553464-41F1-4160-9D02-7C5EC7013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1279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EB9B5B69-A297-4D2F-8B89-529DA8A273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6" name="Freeform 11">
              <a:extLst>
                <a:ext uri="{FF2B5EF4-FFF2-40B4-BE49-F238E27FC236}">
                  <a16:creationId xmlns:a16="http://schemas.microsoft.com/office/drawing/2014/main" id="{3E39D215-BF38-4094-82D7-61DED1145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7" name="Freeform 12">
              <a:extLst>
                <a:ext uri="{FF2B5EF4-FFF2-40B4-BE49-F238E27FC236}">
                  <a16:creationId xmlns:a16="http://schemas.microsoft.com/office/drawing/2014/main" id="{7412700A-91C4-4126-8F17-3B9449DBB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8" name="Freeform 13">
              <a:extLst>
                <a:ext uri="{FF2B5EF4-FFF2-40B4-BE49-F238E27FC236}">
                  <a16:creationId xmlns:a16="http://schemas.microsoft.com/office/drawing/2014/main" id="{DF985802-25A8-4B99-89F0-2A42EC325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9" name="Freeform 14">
              <a:extLst>
                <a:ext uri="{FF2B5EF4-FFF2-40B4-BE49-F238E27FC236}">
                  <a16:creationId xmlns:a16="http://schemas.microsoft.com/office/drawing/2014/main" id="{F54C35AF-DB92-4205-A779-2A385B7143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0" name="Freeform 15">
              <a:extLst>
                <a:ext uri="{FF2B5EF4-FFF2-40B4-BE49-F238E27FC236}">
                  <a16:creationId xmlns:a16="http://schemas.microsoft.com/office/drawing/2014/main" id="{9F845211-1F53-4E0A-891E-B78A206F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1" name="Freeform 16">
              <a:extLst>
                <a:ext uri="{FF2B5EF4-FFF2-40B4-BE49-F238E27FC236}">
                  <a16:creationId xmlns:a16="http://schemas.microsoft.com/office/drawing/2014/main" id="{9149C7DD-9998-4805-BFC8-CEF5F5DF3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22" name="Freeform 17">
              <a:extLst>
                <a:ext uri="{FF2B5EF4-FFF2-40B4-BE49-F238E27FC236}">
                  <a16:creationId xmlns:a16="http://schemas.microsoft.com/office/drawing/2014/main" id="{47C8036D-3ECA-43DA-BAF5-3C65CF4112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3" name="Freeform 18">
              <a:extLst>
                <a:ext uri="{FF2B5EF4-FFF2-40B4-BE49-F238E27FC236}">
                  <a16:creationId xmlns:a16="http://schemas.microsoft.com/office/drawing/2014/main" id="{29C15912-CDE8-4DF3-9324-273FB4C86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4" name="Freeform 19">
              <a:extLst>
                <a:ext uri="{FF2B5EF4-FFF2-40B4-BE49-F238E27FC236}">
                  <a16:creationId xmlns:a16="http://schemas.microsoft.com/office/drawing/2014/main" id="{37C68D51-B7DA-4572-AB7E-708540B3C6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5" name="Freeform 20">
              <a:extLst>
                <a:ext uri="{FF2B5EF4-FFF2-40B4-BE49-F238E27FC236}">
                  <a16:creationId xmlns:a16="http://schemas.microsoft.com/office/drawing/2014/main" id="{1AF802CB-4E9E-4895-9363-C11991490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6" name="Freeform 21">
              <a:extLst>
                <a:ext uri="{FF2B5EF4-FFF2-40B4-BE49-F238E27FC236}">
                  <a16:creationId xmlns:a16="http://schemas.microsoft.com/office/drawing/2014/main" id="{615760E5-5F27-4735-B01C-78E05F3FB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7" name="Freeform 22">
              <a:extLst>
                <a:ext uri="{FF2B5EF4-FFF2-40B4-BE49-F238E27FC236}">
                  <a16:creationId xmlns:a16="http://schemas.microsoft.com/office/drawing/2014/main" id="{DB9C6516-B2DB-432F-BD3A-A1792BD46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9" name="Group 28">
            <a:extLst>
              <a:ext uri="{FF2B5EF4-FFF2-40B4-BE49-F238E27FC236}">
                <a16:creationId xmlns:a16="http://schemas.microsoft.com/office/drawing/2014/main" id="{BC9C8D0D-644B-4B97-B83C-CC8E64361D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30" name="Freeform 27">
              <a:extLst>
                <a:ext uri="{FF2B5EF4-FFF2-40B4-BE49-F238E27FC236}">
                  <a16:creationId xmlns:a16="http://schemas.microsoft.com/office/drawing/2014/main" id="{F8BE1EA6-80CF-446B-A4FE-3F935A51C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31" name="Freeform 28">
              <a:extLst>
                <a:ext uri="{FF2B5EF4-FFF2-40B4-BE49-F238E27FC236}">
                  <a16:creationId xmlns:a16="http://schemas.microsoft.com/office/drawing/2014/main" id="{10E39808-F4F7-43DE-AB53-82B7B55EA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32" name="Freeform 29">
              <a:extLst>
                <a:ext uri="{FF2B5EF4-FFF2-40B4-BE49-F238E27FC236}">
                  <a16:creationId xmlns:a16="http://schemas.microsoft.com/office/drawing/2014/main" id="{6ED5109A-600A-4C23-9BB3-C4C19C2D9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3" name="Freeform 30">
              <a:extLst>
                <a:ext uri="{FF2B5EF4-FFF2-40B4-BE49-F238E27FC236}">
                  <a16:creationId xmlns:a16="http://schemas.microsoft.com/office/drawing/2014/main" id="{D76FF73F-8CA3-42B0-A680-353805CD2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4" name="Freeform 31">
              <a:extLst>
                <a:ext uri="{FF2B5EF4-FFF2-40B4-BE49-F238E27FC236}">
                  <a16:creationId xmlns:a16="http://schemas.microsoft.com/office/drawing/2014/main" id="{B26A6949-3BEB-422A-854C-D4E26E4CF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5" name="Freeform 32">
              <a:extLst>
                <a:ext uri="{FF2B5EF4-FFF2-40B4-BE49-F238E27FC236}">
                  <a16:creationId xmlns:a16="http://schemas.microsoft.com/office/drawing/2014/main" id="{FE07AD25-30AF-40CD-B901-DF1EDBD68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6" name="Freeform 33">
              <a:extLst>
                <a:ext uri="{FF2B5EF4-FFF2-40B4-BE49-F238E27FC236}">
                  <a16:creationId xmlns:a16="http://schemas.microsoft.com/office/drawing/2014/main" id="{5AA460AF-7760-4F15-881A-6F0BFDBCD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7" name="Freeform 34">
              <a:extLst>
                <a:ext uri="{FF2B5EF4-FFF2-40B4-BE49-F238E27FC236}">
                  <a16:creationId xmlns:a16="http://schemas.microsoft.com/office/drawing/2014/main" id="{EE53C70E-5D92-4C42-A34F-9F7D16006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8" name="Freeform 35">
              <a:extLst>
                <a:ext uri="{FF2B5EF4-FFF2-40B4-BE49-F238E27FC236}">
                  <a16:creationId xmlns:a16="http://schemas.microsoft.com/office/drawing/2014/main" id="{C27614EE-0086-4D34-99BD-52F03708D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9" name="Freeform 36">
              <a:extLst>
                <a:ext uri="{FF2B5EF4-FFF2-40B4-BE49-F238E27FC236}">
                  <a16:creationId xmlns:a16="http://schemas.microsoft.com/office/drawing/2014/main" id="{326919B9-3ED4-4744-A713-326B3BAF6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40" name="Freeform 37">
              <a:extLst>
                <a:ext uri="{FF2B5EF4-FFF2-40B4-BE49-F238E27FC236}">
                  <a16:creationId xmlns:a16="http://schemas.microsoft.com/office/drawing/2014/main" id="{898BDBF5-8AA3-49CD-999A-ABA1F7AE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41" name="Freeform 38">
              <a:extLst>
                <a:ext uri="{FF2B5EF4-FFF2-40B4-BE49-F238E27FC236}">
                  <a16:creationId xmlns:a16="http://schemas.microsoft.com/office/drawing/2014/main" id="{AF8ED3E0-CBE7-48C4-8F9E-FF98079CDB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3" name="Rectangle 42">
            <a:extLst>
              <a:ext uri="{FF2B5EF4-FFF2-40B4-BE49-F238E27FC236}">
                <a16:creationId xmlns:a16="http://schemas.microsoft.com/office/drawing/2014/main" id="{A84F153B-2093-4171-BD2D-1631695C9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5" name="Freeform 11">
            <a:extLst>
              <a:ext uri="{FF2B5EF4-FFF2-40B4-BE49-F238E27FC236}">
                <a16:creationId xmlns:a16="http://schemas.microsoft.com/office/drawing/2014/main" id="{99499096-7355-478E-8CCB-A47EA1B79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useBgFill="1">
        <p:nvSpPr>
          <p:cNvPr id="47" name="Rectangle 46">
            <a:extLst>
              <a:ext uri="{FF2B5EF4-FFF2-40B4-BE49-F238E27FC236}">
                <a16:creationId xmlns:a16="http://schemas.microsoft.com/office/drawing/2014/main" id="{9073237B-D536-4B4C-8928-3510CB0F8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649224" y="645106"/>
            <a:ext cx="3650279" cy="1259894"/>
          </a:xfrm>
        </p:spPr>
        <p:txBody>
          <a:bodyPr vert="horz" lIns="91440" tIns="45720" rIns="91440" bIns="45720" rtlCol="0" anchor="t">
            <a:normAutofit/>
          </a:bodyPr>
          <a:lstStyle/>
          <a:p>
            <a:r>
              <a:rPr lang="en-US" i="0" cap="none" spc="0" baseline="0">
                <a:effectLst/>
              </a:rPr>
              <a:t>PMF of Movie and TV Show</a:t>
            </a:r>
          </a:p>
        </p:txBody>
      </p:sp>
      <p:sp>
        <p:nvSpPr>
          <p:cNvPr id="49" name="Rectangle 48">
            <a:extLst>
              <a:ext uri="{FF2B5EF4-FFF2-40B4-BE49-F238E27FC236}">
                <a16:creationId xmlns:a16="http://schemas.microsoft.com/office/drawing/2014/main" id="{488B1383-B33A-45D9-AF5F-DD1522135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21E134FC-7E3E-4789-9616-B4EA83BCF8C7}"/>
              </a:ext>
            </a:extLst>
          </p:cNvPr>
          <p:cNvSpPr txBox="1"/>
          <p:nvPr/>
        </p:nvSpPr>
        <p:spPr>
          <a:xfrm>
            <a:off x="649225" y="2133600"/>
            <a:ext cx="3650278" cy="3759253"/>
          </a:xfrm>
          <a:prstGeom prst="rect">
            <a:avLst/>
          </a:prstGeom>
        </p:spPr>
        <p:txBody>
          <a:bodyPr vert="horz" lIns="91440" tIns="45720" rIns="91440" bIns="45720" rtlCol="0">
            <a:normAutofit/>
          </a:bodyPr>
          <a:lstStyle/>
          <a:p>
            <a:pPr indent="-182880">
              <a:spcBef>
                <a:spcPts val="1000"/>
              </a:spcBef>
              <a:buClr>
                <a:schemeClr val="accent1"/>
              </a:buClr>
              <a:buFont typeface="Wingdings 3" charset="2"/>
              <a:buChar char=""/>
            </a:pPr>
            <a:r>
              <a:rPr lang="en-US">
                <a:solidFill>
                  <a:schemeClr val="tx1">
                    <a:lumMod val="75000"/>
                    <a:lumOff val="25000"/>
                  </a:schemeClr>
                </a:solidFill>
              </a:rPr>
              <a:t>Based on the PMF plot, we can say that more TV shows are added than Movies in 2020.</a:t>
            </a:r>
          </a:p>
          <a:p>
            <a:pPr indent="-182880">
              <a:spcBef>
                <a:spcPts val="1000"/>
              </a:spcBef>
              <a:buClr>
                <a:schemeClr val="accent1"/>
              </a:buClr>
              <a:buFont typeface="Wingdings 3" charset="2"/>
              <a:buChar char=""/>
            </a:pPr>
            <a:r>
              <a:rPr lang="en-US">
                <a:solidFill>
                  <a:schemeClr val="tx1">
                    <a:lumMod val="75000"/>
                    <a:lumOff val="25000"/>
                  </a:schemeClr>
                </a:solidFill>
              </a:rPr>
              <a:t>But as per histogram it shows that more movies are added in 2020.</a:t>
            </a:r>
          </a:p>
          <a:p>
            <a:pPr indent="-182880">
              <a:spcBef>
                <a:spcPts val="1000"/>
              </a:spcBef>
              <a:buClr>
                <a:schemeClr val="accent1"/>
              </a:buClr>
              <a:buFont typeface="Wingdings 3" charset="2"/>
              <a:buChar char=""/>
            </a:pPr>
            <a:endParaRPr lang="en-US">
              <a:solidFill>
                <a:schemeClr val="tx1">
                  <a:lumMod val="75000"/>
                  <a:lumOff val="25000"/>
                </a:schemeClr>
              </a:solidFill>
            </a:endParaRPr>
          </a:p>
          <a:p>
            <a:pPr indent="-182880">
              <a:spcBef>
                <a:spcPts val="1000"/>
              </a:spcBef>
              <a:buClr>
                <a:schemeClr val="accent1"/>
              </a:buClr>
              <a:buFont typeface="Wingdings 3" charset="2"/>
              <a:buChar char=""/>
            </a:pPr>
            <a:endParaRPr lang="en-US">
              <a:solidFill>
                <a:schemeClr val="tx1">
                  <a:lumMod val="75000"/>
                  <a:lumOff val="25000"/>
                </a:schemeClr>
              </a:solidFill>
            </a:endParaRPr>
          </a:p>
        </p:txBody>
      </p:sp>
      <p:pic>
        <p:nvPicPr>
          <p:cNvPr id="8" name="Picture 7">
            <a:extLst>
              <a:ext uri="{FF2B5EF4-FFF2-40B4-BE49-F238E27FC236}">
                <a16:creationId xmlns:a16="http://schemas.microsoft.com/office/drawing/2014/main" id="{425B69A4-29C8-48A3-B455-D0E331AEF4EB}"/>
              </a:ext>
            </a:extLst>
          </p:cNvPr>
          <p:cNvPicPr>
            <a:picLocks noChangeAspect="1"/>
          </p:cNvPicPr>
          <p:nvPr/>
        </p:nvPicPr>
        <p:blipFill>
          <a:blip r:embed="rId2"/>
          <a:stretch>
            <a:fillRect/>
          </a:stretch>
        </p:blipFill>
        <p:spPr>
          <a:xfrm>
            <a:off x="4619543" y="1632659"/>
            <a:ext cx="3394925" cy="3267615"/>
          </a:xfrm>
          <a:prstGeom prst="rect">
            <a:avLst/>
          </a:prstGeom>
          <a:noFill/>
        </p:spPr>
      </p:pic>
      <p:pic>
        <p:nvPicPr>
          <p:cNvPr id="10" name="Picture 9">
            <a:extLst>
              <a:ext uri="{FF2B5EF4-FFF2-40B4-BE49-F238E27FC236}">
                <a16:creationId xmlns:a16="http://schemas.microsoft.com/office/drawing/2014/main" id="{7F51ECB0-6427-48C5-BA4E-718A6C4B2BAF}"/>
              </a:ext>
            </a:extLst>
          </p:cNvPr>
          <p:cNvPicPr>
            <a:picLocks noChangeAspect="1"/>
          </p:cNvPicPr>
          <p:nvPr/>
        </p:nvPicPr>
        <p:blipFill>
          <a:blip r:embed="rId3"/>
          <a:stretch>
            <a:fillRect/>
          </a:stretch>
        </p:blipFill>
        <p:spPr>
          <a:xfrm>
            <a:off x="8178194" y="1726019"/>
            <a:ext cx="3394926" cy="3080895"/>
          </a:xfrm>
          <a:prstGeom prst="rect">
            <a:avLst/>
          </a:prstGeom>
        </p:spPr>
      </p:pic>
      <p:sp>
        <p:nvSpPr>
          <p:cNvPr id="51" name="Freeform 11">
            <a:extLst>
              <a:ext uri="{FF2B5EF4-FFF2-40B4-BE49-F238E27FC236}">
                <a16:creationId xmlns:a16="http://schemas.microsoft.com/office/drawing/2014/main" id="{ADD2565E-493E-4545-99C0-2F033FAF9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8563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5" name="Group 2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9" name="Rectangle 3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1"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useBgFill="1">
        <p:nvSpPr>
          <p:cNvPr id="43" name="Rectangle 42">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649224" y="645106"/>
            <a:ext cx="3650279" cy="1259894"/>
          </a:xfrm>
        </p:spPr>
        <p:txBody>
          <a:bodyPr vert="horz" lIns="91440" tIns="45720" rIns="91440" bIns="45720" rtlCol="0" anchor="t">
            <a:normAutofit/>
          </a:bodyPr>
          <a:lstStyle/>
          <a:p>
            <a:r>
              <a:rPr lang="en-US" i="0" cap="none" spc="0" baseline="0">
                <a:effectLst/>
              </a:rPr>
              <a:t>CDF of Movie and TV Show</a:t>
            </a:r>
          </a:p>
        </p:txBody>
      </p:sp>
      <p:sp>
        <p:nvSpPr>
          <p:cNvPr id="45" name="Rectangle 44">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21E134FC-7E3E-4789-9616-B4EA83BCF8C7}"/>
              </a:ext>
            </a:extLst>
          </p:cNvPr>
          <p:cNvSpPr txBox="1"/>
          <p:nvPr/>
        </p:nvSpPr>
        <p:spPr>
          <a:xfrm>
            <a:off x="649225" y="2133600"/>
            <a:ext cx="3650278" cy="3759253"/>
          </a:xfrm>
          <a:prstGeom prst="rect">
            <a:avLst/>
          </a:prstGeom>
        </p:spPr>
        <p:txBody>
          <a:bodyPr vert="horz" lIns="91440" tIns="45720" rIns="91440" bIns="45720" rtlCol="0">
            <a:normAutofit/>
          </a:bodyPr>
          <a:lstStyle/>
          <a:p>
            <a:pPr indent="-182880">
              <a:spcBef>
                <a:spcPts val="1000"/>
              </a:spcBef>
              <a:buClr>
                <a:schemeClr val="accent1"/>
              </a:buClr>
              <a:buFont typeface="Wingdings 3" charset="2"/>
              <a:buChar char=""/>
            </a:pPr>
            <a:r>
              <a:rPr lang="en-US">
                <a:solidFill>
                  <a:schemeClr val="tx1">
                    <a:lumMod val="75000"/>
                    <a:lumOff val="25000"/>
                  </a:schemeClr>
                </a:solidFill>
              </a:rPr>
              <a:t>The CDF shows that around 80% of the current netflix movies and shoes were added between 2016 to 2019.</a:t>
            </a:r>
          </a:p>
          <a:p>
            <a:pPr indent="-182880">
              <a:spcBef>
                <a:spcPts val="1000"/>
              </a:spcBef>
              <a:buClr>
                <a:schemeClr val="accent1"/>
              </a:buClr>
              <a:buFont typeface="Wingdings 3" charset="2"/>
              <a:buChar char=""/>
            </a:pPr>
            <a:endParaRPr lang="en-US">
              <a:solidFill>
                <a:schemeClr val="tx1">
                  <a:lumMod val="75000"/>
                  <a:lumOff val="25000"/>
                </a:schemeClr>
              </a:solidFill>
            </a:endParaRPr>
          </a:p>
        </p:txBody>
      </p:sp>
      <p:pic>
        <p:nvPicPr>
          <p:cNvPr id="4" name="Picture 3">
            <a:extLst>
              <a:ext uri="{FF2B5EF4-FFF2-40B4-BE49-F238E27FC236}">
                <a16:creationId xmlns:a16="http://schemas.microsoft.com/office/drawing/2014/main" id="{FB97173D-396C-4974-81FF-55ABA17D33B1}"/>
              </a:ext>
            </a:extLst>
          </p:cNvPr>
          <p:cNvPicPr>
            <a:picLocks noChangeAspect="1"/>
          </p:cNvPicPr>
          <p:nvPr/>
        </p:nvPicPr>
        <p:blipFill>
          <a:blip r:embed="rId2"/>
          <a:stretch>
            <a:fillRect/>
          </a:stretch>
        </p:blipFill>
        <p:spPr>
          <a:xfrm>
            <a:off x="4619543" y="1015246"/>
            <a:ext cx="6953577" cy="4502440"/>
          </a:xfrm>
          <a:prstGeom prst="rect">
            <a:avLst/>
          </a:prstGeom>
          <a:noFill/>
        </p:spPr>
      </p:pic>
      <p:sp>
        <p:nvSpPr>
          <p:cNvPr id="47"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0319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p:txBody>
          <a:bodyPr vert="horz" lIns="91440" tIns="45720" rIns="91440" bIns="45720" rtlCol="0" anchor="ctr">
            <a:normAutofit/>
          </a:bodyPr>
          <a:lstStyle/>
          <a:p>
            <a:r>
              <a:rPr lang="en-US" i="0" kern="1200" cap="none" spc="0" baseline="0" dirty="0">
                <a:effectLst/>
                <a:latin typeface="+mj-lt"/>
                <a:ea typeface="+mn-ea"/>
                <a:cs typeface="+mn-cs"/>
              </a:rPr>
              <a:t>Normality distribution of </a:t>
            </a:r>
            <a:r>
              <a:rPr lang="en-US" i="0" kern="1200" cap="none" spc="0" baseline="0" dirty="0" err="1">
                <a:effectLst/>
                <a:latin typeface="+mj-lt"/>
                <a:ea typeface="+mn-ea"/>
                <a:cs typeface="+mn-cs"/>
              </a:rPr>
              <a:t>released_year</a:t>
            </a:r>
            <a:endParaRPr lang="en-US" i="0" kern="1200" cap="none" spc="0" baseline="0" dirty="0">
              <a:effectLst/>
              <a:latin typeface="+mj-lt"/>
              <a:ea typeface="+mn-ea"/>
              <a:cs typeface="+mn-cs"/>
            </a:endParaRPr>
          </a:p>
        </p:txBody>
      </p:sp>
      <p:pic>
        <p:nvPicPr>
          <p:cNvPr id="5" name="Picture 4">
            <a:extLst>
              <a:ext uri="{FF2B5EF4-FFF2-40B4-BE49-F238E27FC236}">
                <a16:creationId xmlns:a16="http://schemas.microsoft.com/office/drawing/2014/main" id="{A015D7C1-5859-4B1E-89D3-177276AFEDB4}"/>
              </a:ext>
            </a:extLst>
          </p:cNvPr>
          <p:cNvPicPr>
            <a:picLocks noChangeAspect="1"/>
          </p:cNvPicPr>
          <p:nvPr/>
        </p:nvPicPr>
        <p:blipFill>
          <a:blip r:embed="rId2"/>
          <a:stretch>
            <a:fillRect/>
          </a:stretch>
        </p:blipFill>
        <p:spPr>
          <a:xfrm>
            <a:off x="1066800" y="2438705"/>
            <a:ext cx="4663440" cy="3077870"/>
          </a:xfrm>
          <a:prstGeom prst="rect">
            <a:avLst/>
          </a:prstGeom>
          <a:noFill/>
        </p:spPr>
      </p:pic>
      <p:sp>
        <p:nvSpPr>
          <p:cNvPr id="6" name="TextBox 5">
            <a:extLst>
              <a:ext uri="{FF2B5EF4-FFF2-40B4-BE49-F238E27FC236}">
                <a16:creationId xmlns:a16="http://schemas.microsoft.com/office/drawing/2014/main" id="{21E134FC-7E3E-4789-9616-B4EA83BCF8C7}"/>
              </a:ext>
            </a:extLst>
          </p:cNvPr>
          <p:cNvSpPr txBox="1"/>
          <p:nvPr/>
        </p:nvSpPr>
        <p:spPr>
          <a:xfrm>
            <a:off x="6461760" y="2103120"/>
            <a:ext cx="4663440" cy="3749040"/>
          </a:xfrm>
          <a:prstGeom prst="rect">
            <a:avLst/>
          </a:prstGeom>
        </p:spPr>
        <p:txBody>
          <a:bodyPr vert="horz" lIns="91440" tIns="45720" rIns="91440" bIns="45720" rtlCol="0">
            <a:normAutofit/>
          </a:bodyPr>
          <a:lstStyle/>
          <a:p>
            <a:pPr indent="-182880">
              <a:spcBef>
                <a:spcPts val="800"/>
              </a:spcBef>
              <a:buClr>
                <a:schemeClr val="tx1">
                  <a:lumMod val="85000"/>
                  <a:lumOff val="15000"/>
                </a:schemeClr>
              </a:buClr>
              <a:buFont typeface="Garamond" pitchFamily="18" charset="0"/>
              <a:buChar char="◦"/>
            </a:pPr>
            <a:r>
              <a:rPr lang="en-US" dirty="0"/>
              <a:t>The line is not straight that means the released year for the Netflix content is not uniform.</a:t>
            </a:r>
          </a:p>
        </p:txBody>
      </p:sp>
    </p:spTree>
    <p:extLst>
      <p:ext uri="{BB962C8B-B14F-4D97-AF65-F5344CB8AC3E}">
        <p14:creationId xmlns:p14="http://schemas.microsoft.com/office/powerpoint/2010/main" val="1935843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5" name="Group 2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9" name="Rectangle 3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1"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1687669" y="624110"/>
            <a:ext cx="4137059" cy="1280890"/>
          </a:xfrm>
        </p:spPr>
        <p:txBody>
          <a:bodyPr vert="horz" lIns="91440" tIns="45720" rIns="91440" bIns="45720" rtlCol="0" anchor="t">
            <a:normAutofit/>
          </a:bodyPr>
          <a:lstStyle/>
          <a:p>
            <a:pPr>
              <a:lnSpc>
                <a:spcPct val="90000"/>
              </a:lnSpc>
            </a:pPr>
            <a:r>
              <a:rPr lang="en-US" sz="2700" i="0" cap="none" spc="0" baseline="0">
                <a:effectLst/>
              </a:rPr>
              <a:t>Scatter plot of year_added vs year_released</a:t>
            </a:r>
          </a:p>
        </p:txBody>
      </p:sp>
      <p:sp>
        <p:nvSpPr>
          <p:cNvPr id="6" name="TextBox 5">
            <a:extLst>
              <a:ext uri="{FF2B5EF4-FFF2-40B4-BE49-F238E27FC236}">
                <a16:creationId xmlns:a16="http://schemas.microsoft.com/office/drawing/2014/main" id="{21E134FC-7E3E-4789-9616-B4EA83BCF8C7}"/>
              </a:ext>
            </a:extLst>
          </p:cNvPr>
          <p:cNvSpPr txBox="1"/>
          <p:nvPr/>
        </p:nvSpPr>
        <p:spPr>
          <a:xfrm>
            <a:off x="1683956" y="2133600"/>
            <a:ext cx="4140772" cy="3777622"/>
          </a:xfrm>
          <a:prstGeom prst="rect">
            <a:avLst/>
          </a:prstGeom>
        </p:spPr>
        <p:txBody>
          <a:bodyPr vert="horz" lIns="91440" tIns="45720" rIns="91440" bIns="45720" rtlCol="0">
            <a:normAutofit/>
          </a:bodyPr>
          <a:lstStyle/>
          <a:p>
            <a:pPr indent="-182880">
              <a:spcBef>
                <a:spcPts val="1000"/>
              </a:spcBef>
              <a:buClr>
                <a:schemeClr val="accent1"/>
              </a:buClr>
              <a:buFont typeface="Wingdings 3" charset="2"/>
              <a:buChar char=""/>
            </a:pPr>
            <a:r>
              <a:rPr lang="en-US">
                <a:solidFill>
                  <a:srgbClr val="000000"/>
                </a:solidFill>
              </a:rPr>
              <a:t>Covariance=1.23</a:t>
            </a:r>
          </a:p>
          <a:p>
            <a:pPr indent="-182880">
              <a:spcBef>
                <a:spcPts val="1000"/>
              </a:spcBef>
              <a:buClr>
                <a:schemeClr val="accent1"/>
              </a:buClr>
              <a:buFont typeface="Wingdings 3" charset="2"/>
              <a:buChar char=""/>
            </a:pPr>
            <a:r>
              <a:rPr lang="en-US">
                <a:solidFill>
                  <a:srgbClr val="000000"/>
                </a:solidFill>
              </a:rPr>
              <a:t>Correlation=0.10</a:t>
            </a:r>
          </a:p>
          <a:p>
            <a:pPr indent="-182880">
              <a:spcBef>
                <a:spcPts val="1000"/>
              </a:spcBef>
              <a:buClr>
                <a:schemeClr val="accent1"/>
              </a:buClr>
              <a:buFont typeface="Wingdings 3" charset="2"/>
              <a:buChar char=""/>
            </a:pPr>
            <a:endParaRPr lang="en-US">
              <a:solidFill>
                <a:srgbClr val="000000"/>
              </a:solidFill>
            </a:endParaRPr>
          </a:p>
          <a:p>
            <a:pPr>
              <a:spcBef>
                <a:spcPts val="1000"/>
              </a:spcBef>
              <a:buClr>
                <a:schemeClr val="accent1"/>
              </a:buClr>
              <a:buFont typeface="Wingdings 3" charset="2"/>
              <a:buChar char=""/>
            </a:pPr>
            <a:r>
              <a:rPr lang="en-US">
                <a:solidFill>
                  <a:srgbClr val="000000"/>
                </a:solidFill>
              </a:rPr>
              <a:t>The positive covariance and correlation shows that there is strong relation between year_added and year_released for any content on Netflix.</a:t>
            </a:r>
          </a:p>
        </p:txBody>
      </p:sp>
      <p:pic>
        <p:nvPicPr>
          <p:cNvPr id="5" name="Picture 4">
            <a:extLst>
              <a:ext uri="{FF2B5EF4-FFF2-40B4-BE49-F238E27FC236}">
                <a16:creationId xmlns:a16="http://schemas.microsoft.com/office/drawing/2014/main" id="{78987745-25B7-46D6-B3C6-C8A49E56BB2C}"/>
              </a:ext>
            </a:extLst>
          </p:cNvPr>
          <p:cNvPicPr>
            <a:picLocks noChangeAspect="1"/>
          </p:cNvPicPr>
          <p:nvPr/>
        </p:nvPicPr>
        <p:blipFill>
          <a:blip r:embed="rId2"/>
          <a:stretch>
            <a:fillRect/>
          </a:stretch>
        </p:blipFill>
        <p:spPr>
          <a:xfrm>
            <a:off x="6091916" y="1694822"/>
            <a:ext cx="5451627" cy="3148314"/>
          </a:xfrm>
          <a:prstGeom prst="rect">
            <a:avLst/>
          </a:prstGeom>
          <a:noFill/>
        </p:spPr>
      </p:pic>
    </p:spTree>
    <p:extLst>
      <p:ext uri="{BB962C8B-B14F-4D97-AF65-F5344CB8AC3E}">
        <p14:creationId xmlns:p14="http://schemas.microsoft.com/office/powerpoint/2010/main" val="1698905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5" name="Group 2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9" name="Rectangle 3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1"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1687669" y="624110"/>
            <a:ext cx="4137059" cy="1280890"/>
          </a:xfrm>
        </p:spPr>
        <p:txBody>
          <a:bodyPr vert="horz" lIns="91440" tIns="45720" rIns="91440" bIns="45720" rtlCol="0" anchor="t">
            <a:normAutofit/>
          </a:bodyPr>
          <a:lstStyle/>
          <a:p>
            <a:pPr>
              <a:lnSpc>
                <a:spcPct val="90000"/>
              </a:lnSpc>
            </a:pPr>
            <a:r>
              <a:rPr lang="en-US" sz="2700" i="0" cap="none" spc="0" baseline="0">
                <a:effectLst/>
              </a:rPr>
              <a:t>Scatter plot of year_added vs month_added</a:t>
            </a:r>
          </a:p>
        </p:txBody>
      </p:sp>
      <p:sp>
        <p:nvSpPr>
          <p:cNvPr id="6" name="TextBox 5">
            <a:extLst>
              <a:ext uri="{FF2B5EF4-FFF2-40B4-BE49-F238E27FC236}">
                <a16:creationId xmlns:a16="http://schemas.microsoft.com/office/drawing/2014/main" id="{21E134FC-7E3E-4789-9616-B4EA83BCF8C7}"/>
              </a:ext>
            </a:extLst>
          </p:cNvPr>
          <p:cNvSpPr txBox="1"/>
          <p:nvPr/>
        </p:nvSpPr>
        <p:spPr>
          <a:xfrm>
            <a:off x="1683956" y="2133600"/>
            <a:ext cx="4140772" cy="3777622"/>
          </a:xfrm>
          <a:prstGeom prst="rect">
            <a:avLst/>
          </a:prstGeom>
        </p:spPr>
        <p:txBody>
          <a:bodyPr vert="horz" lIns="91440" tIns="45720" rIns="91440" bIns="45720" rtlCol="0">
            <a:normAutofit/>
          </a:bodyPr>
          <a:lstStyle/>
          <a:p>
            <a:pPr indent="-182880">
              <a:spcBef>
                <a:spcPts val="1000"/>
              </a:spcBef>
              <a:buClr>
                <a:schemeClr val="accent1"/>
              </a:buClr>
              <a:buFont typeface="Wingdings 3" charset="2"/>
              <a:buChar char=""/>
            </a:pPr>
            <a:r>
              <a:rPr lang="en-US">
                <a:solidFill>
                  <a:srgbClr val="000000"/>
                </a:solidFill>
              </a:rPr>
              <a:t>Covariance= -0.66</a:t>
            </a:r>
          </a:p>
          <a:p>
            <a:pPr indent="-182880">
              <a:spcBef>
                <a:spcPts val="1000"/>
              </a:spcBef>
              <a:buClr>
                <a:schemeClr val="accent1"/>
              </a:buClr>
              <a:buFont typeface="Wingdings 3" charset="2"/>
              <a:buChar char=""/>
            </a:pPr>
            <a:r>
              <a:rPr lang="en-US">
                <a:solidFill>
                  <a:srgbClr val="000000"/>
                </a:solidFill>
              </a:rPr>
              <a:t>Correlation= -.133</a:t>
            </a:r>
          </a:p>
          <a:p>
            <a:pPr indent="-182880">
              <a:spcBef>
                <a:spcPts val="1000"/>
              </a:spcBef>
              <a:buClr>
                <a:schemeClr val="accent1"/>
              </a:buClr>
              <a:buFont typeface="Wingdings 3" charset="2"/>
              <a:buChar char=""/>
            </a:pPr>
            <a:endParaRPr lang="en-US">
              <a:solidFill>
                <a:srgbClr val="000000"/>
              </a:solidFill>
            </a:endParaRPr>
          </a:p>
          <a:p>
            <a:pPr>
              <a:spcBef>
                <a:spcPts val="1000"/>
              </a:spcBef>
              <a:buClr>
                <a:schemeClr val="accent1"/>
              </a:buClr>
              <a:buFont typeface="Wingdings 3" charset="2"/>
              <a:buChar char=""/>
            </a:pPr>
            <a:r>
              <a:rPr lang="en-US">
                <a:solidFill>
                  <a:srgbClr val="000000"/>
                </a:solidFill>
              </a:rPr>
              <a:t>The negative covariance and correlation shows that there is inverse relation between year_added and month_added for any content on Netflix.</a:t>
            </a:r>
          </a:p>
        </p:txBody>
      </p:sp>
      <p:pic>
        <p:nvPicPr>
          <p:cNvPr id="4" name="Picture 3">
            <a:extLst>
              <a:ext uri="{FF2B5EF4-FFF2-40B4-BE49-F238E27FC236}">
                <a16:creationId xmlns:a16="http://schemas.microsoft.com/office/drawing/2014/main" id="{7E6CBFDB-2330-49A9-8B23-342770462E45}"/>
              </a:ext>
            </a:extLst>
          </p:cNvPr>
          <p:cNvPicPr>
            <a:picLocks noChangeAspect="1"/>
          </p:cNvPicPr>
          <p:nvPr/>
        </p:nvPicPr>
        <p:blipFill>
          <a:blip r:embed="rId2"/>
          <a:stretch>
            <a:fillRect/>
          </a:stretch>
        </p:blipFill>
        <p:spPr>
          <a:xfrm>
            <a:off x="6091916" y="1504016"/>
            <a:ext cx="5451627" cy="3529927"/>
          </a:xfrm>
          <a:prstGeom prst="rect">
            <a:avLst/>
          </a:prstGeom>
          <a:noFill/>
        </p:spPr>
      </p:pic>
    </p:spTree>
    <p:extLst>
      <p:ext uri="{BB962C8B-B14F-4D97-AF65-F5344CB8AC3E}">
        <p14:creationId xmlns:p14="http://schemas.microsoft.com/office/powerpoint/2010/main" val="791012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5" name="Group 2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9" name="Rectangle 3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1"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2592925" y="624110"/>
            <a:ext cx="8911687" cy="1280890"/>
          </a:xfrm>
        </p:spPr>
        <p:txBody>
          <a:bodyPr vert="horz" lIns="91440" tIns="45720" rIns="91440" bIns="45720" rtlCol="0" anchor="t">
            <a:normAutofit/>
          </a:bodyPr>
          <a:lstStyle/>
          <a:p>
            <a:r>
              <a:rPr lang="en-US" i="0" cap="none" spc="0" baseline="0">
                <a:effectLst/>
              </a:rPr>
              <a:t>Hypothesis testing of released_year</a:t>
            </a:r>
          </a:p>
        </p:txBody>
      </p:sp>
      <p:sp>
        <p:nvSpPr>
          <p:cNvPr id="6" name="TextBox 5">
            <a:extLst>
              <a:ext uri="{FF2B5EF4-FFF2-40B4-BE49-F238E27FC236}">
                <a16:creationId xmlns:a16="http://schemas.microsoft.com/office/drawing/2014/main" id="{21E134FC-7E3E-4789-9616-B4EA83BCF8C7}"/>
              </a:ext>
            </a:extLst>
          </p:cNvPr>
          <p:cNvSpPr txBox="1"/>
          <p:nvPr/>
        </p:nvSpPr>
        <p:spPr>
          <a:xfrm>
            <a:off x="2589212" y="2125362"/>
            <a:ext cx="5835121" cy="3785860"/>
          </a:xfrm>
          <a:prstGeom prst="rect">
            <a:avLst/>
          </a:prstGeom>
        </p:spPr>
        <p:txBody>
          <a:bodyPr vert="horz" lIns="91440" tIns="45720" rIns="91440" bIns="45720" rtlCol="0">
            <a:normAutofit/>
          </a:bodyPr>
          <a:lstStyle/>
          <a:p>
            <a:pPr indent="-182880">
              <a:spcBef>
                <a:spcPts val="1000"/>
              </a:spcBef>
              <a:buClr>
                <a:schemeClr val="accent1"/>
              </a:buClr>
              <a:buFont typeface="Wingdings 3" charset="2"/>
              <a:buChar char=""/>
            </a:pPr>
            <a:r>
              <a:rPr lang="en-US">
                <a:solidFill>
                  <a:schemeClr val="tx1">
                    <a:lumMod val="75000"/>
                    <a:lumOff val="25000"/>
                  </a:schemeClr>
                </a:solidFill>
              </a:rPr>
              <a:t>Test: difference in mean year TV shows and movies added on Netflix </a:t>
            </a:r>
          </a:p>
          <a:p>
            <a:pPr indent="-182880">
              <a:spcBef>
                <a:spcPts val="1000"/>
              </a:spcBef>
              <a:buClr>
                <a:schemeClr val="accent1"/>
              </a:buClr>
              <a:buFont typeface="Wingdings 3" charset="2"/>
              <a:buChar char=""/>
            </a:pPr>
            <a:endParaRPr lang="en-US">
              <a:solidFill>
                <a:schemeClr val="tx1">
                  <a:lumMod val="75000"/>
                  <a:lumOff val="25000"/>
                </a:schemeClr>
              </a:solidFill>
            </a:endParaRPr>
          </a:p>
          <a:p>
            <a:pPr indent="-182880">
              <a:spcBef>
                <a:spcPts val="1000"/>
              </a:spcBef>
              <a:buClr>
                <a:schemeClr val="accent1"/>
              </a:buClr>
              <a:buFont typeface="Wingdings 3" charset="2"/>
              <a:buChar char=""/>
            </a:pPr>
            <a:r>
              <a:rPr lang="en-US">
                <a:solidFill>
                  <a:schemeClr val="tx1">
                    <a:lumMod val="75000"/>
                    <a:lumOff val="25000"/>
                  </a:schemeClr>
                </a:solidFill>
              </a:rPr>
              <a:t>Conclusion: As expected, tests that are positive with large sample sizes become negative as we take away data.  But the pattern is erratic, with some positive tests even at small sample sizes.</a:t>
            </a:r>
          </a:p>
        </p:txBody>
      </p:sp>
      <p:pic>
        <p:nvPicPr>
          <p:cNvPr id="4" name="Picture 3" descr="Table&#10;&#10;Description automatically generated">
            <a:extLst>
              <a:ext uri="{FF2B5EF4-FFF2-40B4-BE49-F238E27FC236}">
                <a16:creationId xmlns:a16="http://schemas.microsoft.com/office/drawing/2014/main" id="{59542FA4-7A88-4F6A-B303-79CEAFE63CEA}"/>
              </a:ext>
            </a:extLst>
          </p:cNvPr>
          <p:cNvPicPr>
            <a:picLocks noChangeAspect="1"/>
          </p:cNvPicPr>
          <p:nvPr/>
        </p:nvPicPr>
        <p:blipFill>
          <a:blip r:embed="rId2"/>
          <a:stretch>
            <a:fillRect/>
          </a:stretch>
        </p:blipFill>
        <p:spPr>
          <a:xfrm>
            <a:off x="8631452" y="2456798"/>
            <a:ext cx="2873159" cy="3083390"/>
          </a:xfrm>
          <a:prstGeom prst="rect">
            <a:avLst/>
          </a:prstGeom>
          <a:noFill/>
        </p:spPr>
      </p:pic>
    </p:spTree>
    <p:extLst>
      <p:ext uri="{BB962C8B-B14F-4D97-AF65-F5344CB8AC3E}">
        <p14:creationId xmlns:p14="http://schemas.microsoft.com/office/powerpoint/2010/main" val="1463436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4"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5"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6"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7"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8"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9"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20"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1"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2"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3"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4"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5"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7" name="Group 26">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8"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9"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30"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1"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2"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3"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4"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5"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6"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7"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8"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9"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1" name="Rectangle 40">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3" name="Freeform 11">
            <a:extLst>
              <a:ext uri="{FF2B5EF4-FFF2-40B4-BE49-F238E27FC236}">
                <a16:creationId xmlns:a16="http://schemas.microsoft.com/office/drawing/2014/main" id="{A57352BE-A213-4040-BE8E-D4A925AD9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2" name="Title 1">
            <a:extLst>
              <a:ext uri="{FF2B5EF4-FFF2-40B4-BE49-F238E27FC236}">
                <a16:creationId xmlns:a16="http://schemas.microsoft.com/office/drawing/2014/main" id="{4F2FA51B-4C21-4797-A5E1-7BE7DE7F9497}"/>
              </a:ext>
            </a:extLst>
          </p:cNvPr>
          <p:cNvSpPr>
            <a:spLocks noGrp="1"/>
          </p:cNvSpPr>
          <p:nvPr>
            <p:ph type="title"/>
          </p:nvPr>
        </p:nvSpPr>
        <p:spPr>
          <a:xfrm>
            <a:off x="1687669" y="624110"/>
            <a:ext cx="4137059" cy="1280890"/>
          </a:xfrm>
        </p:spPr>
        <p:txBody>
          <a:bodyPr vert="horz" lIns="91440" tIns="45720" rIns="91440" bIns="45720" rtlCol="0" anchor="t">
            <a:normAutofit/>
          </a:bodyPr>
          <a:lstStyle/>
          <a:p>
            <a:pPr>
              <a:lnSpc>
                <a:spcPct val="90000"/>
              </a:lnSpc>
            </a:pPr>
            <a:r>
              <a:rPr lang="en-US" sz="2700" i="0" cap="none" spc="0" baseline="0">
                <a:effectLst/>
              </a:rPr>
              <a:t>Linear Regretion year_added ~ released_year</a:t>
            </a:r>
          </a:p>
        </p:txBody>
      </p:sp>
      <p:sp>
        <p:nvSpPr>
          <p:cNvPr id="6" name="TextBox 5">
            <a:extLst>
              <a:ext uri="{FF2B5EF4-FFF2-40B4-BE49-F238E27FC236}">
                <a16:creationId xmlns:a16="http://schemas.microsoft.com/office/drawing/2014/main" id="{21E134FC-7E3E-4789-9616-B4EA83BCF8C7}"/>
              </a:ext>
            </a:extLst>
          </p:cNvPr>
          <p:cNvSpPr txBox="1"/>
          <p:nvPr/>
        </p:nvSpPr>
        <p:spPr>
          <a:xfrm>
            <a:off x="1683956" y="2133600"/>
            <a:ext cx="4140772" cy="3777622"/>
          </a:xfrm>
          <a:prstGeom prst="rect">
            <a:avLst/>
          </a:prstGeom>
        </p:spPr>
        <p:txBody>
          <a:bodyPr vert="horz" lIns="91440" tIns="45720" rIns="91440" bIns="45720" rtlCol="0">
            <a:normAutofit/>
          </a:bodyPr>
          <a:lstStyle/>
          <a:p>
            <a:pPr indent="-182880">
              <a:spcBef>
                <a:spcPts val="1000"/>
              </a:spcBef>
              <a:buClr>
                <a:schemeClr val="accent1"/>
              </a:buClr>
              <a:buFont typeface="Wingdings 3" charset="2"/>
              <a:buChar char=""/>
            </a:pPr>
            <a:r>
              <a:rPr lang="en-US" sz="1600" b="0" i="0">
                <a:effectLst/>
              </a:rPr>
              <a:t> Standard Errors assume that the covariance matrix of the errors is correctly specified.</a:t>
            </a:r>
          </a:p>
          <a:p>
            <a:pPr indent="-182880">
              <a:spcBef>
                <a:spcPts val="1000"/>
              </a:spcBef>
              <a:buClr>
                <a:schemeClr val="accent1"/>
              </a:buClr>
              <a:buFont typeface="Wingdings 3" charset="2"/>
              <a:buChar char=""/>
            </a:pPr>
            <a:r>
              <a:rPr lang="en-US" sz="1600" b="0" i="0">
                <a:effectLst/>
              </a:rPr>
              <a:t>The condition number is large, 4.63e+05. This might indicate that there are strong multicollinearity or other numerical problems.</a:t>
            </a:r>
            <a:endParaRPr lang="en-US" sz="1600"/>
          </a:p>
        </p:txBody>
      </p:sp>
      <p:pic>
        <p:nvPicPr>
          <p:cNvPr id="8" name="Picture 7">
            <a:extLst>
              <a:ext uri="{FF2B5EF4-FFF2-40B4-BE49-F238E27FC236}">
                <a16:creationId xmlns:a16="http://schemas.microsoft.com/office/drawing/2014/main" id="{6EB40319-247E-4FE4-AEB6-01DF7148B461}"/>
              </a:ext>
            </a:extLst>
          </p:cNvPr>
          <p:cNvPicPr>
            <a:picLocks noChangeAspect="1"/>
          </p:cNvPicPr>
          <p:nvPr/>
        </p:nvPicPr>
        <p:blipFill rotWithShape="1">
          <a:blip r:embed="rId2"/>
          <a:srcRect t="2932" r="-5" b="9497"/>
          <a:stretch/>
        </p:blipFill>
        <p:spPr>
          <a:xfrm>
            <a:off x="6091916" y="645106"/>
            <a:ext cx="5451627" cy="5247747"/>
          </a:xfrm>
          <a:prstGeom prst="rect">
            <a:avLst/>
          </a:prstGeom>
          <a:noFill/>
        </p:spPr>
      </p:pic>
    </p:spTree>
    <p:extLst>
      <p:ext uri="{BB962C8B-B14F-4D97-AF65-F5344CB8AC3E}">
        <p14:creationId xmlns:p14="http://schemas.microsoft.com/office/powerpoint/2010/main" val="3427771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0"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1"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2"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3"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4"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5"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6"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7"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8"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19"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0"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2" name="Group 21">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4"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5"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6"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27"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28"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29"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0"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1"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2"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3"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4"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6" name="Rectangle 35">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8" name="Freeform 11">
            <a:extLst>
              <a:ext uri="{FF2B5EF4-FFF2-40B4-BE49-F238E27FC236}">
                <a16:creationId xmlns:a16="http://schemas.microsoft.com/office/drawing/2014/main" id="{BFE4781A-41C7-4F27-8792-A74EFB8E5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useBgFill="1">
        <p:nvSpPr>
          <p:cNvPr id="40" name="Rectangle 39">
            <a:extLst>
              <a:ext uri="{FF2B5EF4-FFF2-40B4-BE49-F238E27FC236}">
                <a16:creationId xmlns:a16="http://schemas.microsoft.com/office/drawing/2014/main" id="{CD306B45-25EE-434D-ABA9-A27B7932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EAFED7-7F5C-467E-A5EF-8F3FFE354AD6}"/>
              </a:ext>
            </a:extLst>
          </p:cNvPr>
          <p:cNvSpPr>
            <a:spLocks noGrp="1"/>
          </p:cNvSpPr>
          <p:nvPr>
            <p:ph type="title"/>
          </p:nvPr>
        </p:nvSpPr>
        <p:spPr>
          <a:xfrm>
            <a:off x="1046019" y="942108"/>
            <a:ext cx="3256550" cy="4969113"/>
          </a:xfrm>
        </p:spPr>
        <p:txBody>
          <a:bodyPr vert="horz" lIns="91440" tIns="45720" rIns="91440" bIns="45720" rtlCol="0" anchor="ctr">
            <a:normAutofit/>
          </a:bodyPr>
          <a:lstStyle/>
          <a:p>
            <a:r>
              <a:rPr lang="en-US" dirty="0">
                <a:solidFill>
                  <a:schemeClr val="tx2">
                    <a:lumMod val="75000"/>
                  </a:schemeClr>
                </a:solidFill>
              </a:rPr>
              <a:t>Conclusion</a:t>
            </a:r>
          </a:p>
        </p:txBody>
      </p:sp>
      <p:sp>
        <p:nvSpPr>
          <p:cNvPr id="42" name="Rectangle 41">
            <a:extLst>
              <a:ext uri="{FF2B5EF4-FFF2-40B4-BE49-F238E27FC236}">
                <a16:creationId xmlns:a16="http://schemas.microsoft.com/office/drawing/2014/main" id="{0A42F85E-4939-431E-8B4A-EC07C8E0A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cxnSp>
        <p:nvCxnSpPr>
          <p:cNvPr id="44" name="Straight Connector 43">
            <a:extLst>
              <a:ext uri="{FF2B5EF4-FFF2-40B4-BE49-F238E27FC236}">
                <a16:creationId xmlns:a16="http://schemas.microsoft.com/office/drawing/2014/main" id="{27EBB3F9-D6F7-4F6A-8843-9FEBA15E49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71831"/>
            <a:ext cx="0" cy="320040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5D2B17EF-74EB-4C33-B2E2-8E727B2E7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1">
              <a:alpha val="30000"/>
            </a:schemeClr>
          </a:solidFill>
        </p:grpSpPr>
        <p:sp>
          <p:nvSpPr>
            <p:cNvPr id="47" name="Freeform 11">
              <a:extLst>
                <a:ext uri="{FF2B5EF4-FFF2-40B4-BE49-F238E27FC236}">
                  <a16:creationId xmlns:a16="http://schemas.microsoft.com/office/drawing/2014/main" id="{0A5F1F8A-3206-4B86-883F-65E98BB6E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48" name="Freeform 12">
              <a:extLst>
                <a:ext uri="{FF2B5EF4-FFF2-40B4-BE49-F238E27FC236}">
                  <a16:creationId xmlns:a16="http://schemas.microsoft.com/office/drawing/2014/main" id="{6935F8C7-CC88-4243-9786-F3CDBF04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49" name="Freeform 13">
              <a:extLst>
                <a:ext uri="{FF2B5EF4-FFF2-40B4-BE49-F238E27FC236}">
                  <a16:creationId xmlns:a16="http://schemas.microsoft.com/office/drawing/2014/main" id="{9AF7BAD9-71B3-40D8-A089-EFF7FE67B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50" name="Freeform 14">
              <a:extLst>
                <a:ext uri="{FF2B5EF4-FFF2-40B4-BE49-F238E27FC236}">
                  <a16:creationId xmlns:a16="http://schemas.microsoft.com/office/drawing/2014/main" id="{6467094F-AEF0-4D3B-BB76-8B3C1F08B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51" name="Freeform 15">
              <a:extLst>
                <a:ext uri="{FF2B5EF4-FFF2-40B4-BE49-F238E27FC236}">
                  <a16:creationId xmlns:a16="http://schemas.microsoft.com/office/drawing/2014/main" id="{36F56AF9-DEF1-44E7-BF42-6AAC1AA9D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52" name="Freeform 16">
              <a:extLst>
                <a:ext uri="{FF2B5EF4-FFF2-40B4-BE49-F238E27FC236}">
                  <a16:creationId xmlns:a16="http://schemas.microsoft.com/office/drawing/2014/main" id="{A43EBE71-20BA-4A40-A513-516678089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53" name="Freeform 17">
              <a:extLst>
                <a:ext uri="{FF2B5EF4-FFF2-40B4-BE49-F238E27FC236}">
                  <a16:creationId xmlns:a16="http://schemas.microsoft.com/office/drawing/2014/main" id="{1DB39648-7B38-4D0B-93C5-048EC4A45C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54" name="Freeform 18">
              <a:extLst>
                <a:ext uri="{FF2B5EF4-FFF2-40B4-BE49-F238E27FC236}">
                  <a16:creationId xmlns:a16="http://schemas.microsoft.com/office/drawing/2014/main" id="{8DD2661F-DE5F-45EA-B30B-7C65896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55" name="Freeform 19">
              <a:extLst>
                <a:ext uri="{FF2B5EF4-FFF2-40B4-BE49-F238E27FC236}">
                  <a16:creationId xmlns:a16="http://schemas.microsoft.com/office/drawing/2014/main" id="{ABF0A0E5-E68E-4183-A913-228692FD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56" name="Freeform 20">
              <a:extLst>
                <a:ext uri="{FF2B5EF4-FFF2-40B4-BE49-F238E27FC236}">
                  <a16:creationId xmlns:a16="http://schemas.microsoft.com/office/drawing/2014/main" id="{615D8F55-8ACD-4EFE-A832-06E78547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57" name="Freeform 21">
              <a:extLst>
                <a:ext uri="{FF2B5EF4-FFF2-40B4-BE49-F238E27FC236}">
                  <a16:creationId xmlns:a16="http://schemas.microsoft.com/office/drawing/2014/main" id="{0FDF4201-8CEC-474B-A6B1-88039B704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58" name="Freeform 22">
              <a:extLst>
                <a:ext uri="{FF2B5EF4-FFF2-40B4-BE49-F238E27FC236}">
                  <a16:creationId xmlns:a16="http://schemas.microsoft.com/office/drawing/2014/main" id="{0F60AEA4-B25F-417E-93FC-59686D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sp>
        <p:nvSpPr>
          <p:cNvPr id="3" name="Content Placeholder 2">
            <a:extLst>
              <a:ext uri="{FF2B5EF4-FFF2-40B4-BE49-F238E27FC236}">
                <a16:creationId xmlns:a16="http://schemas.microsoft.com/office/drawing/2014/main" id="{4DC03F29-5045-4D3C-A2AB-40762D88C540}"/>
              </a:ext>
            </a:extLst>
          </p:cNvPr>
          <p:cNvSpPr>
            <a:spLocks noGrp="1"/>
          </p:cNvSpPr>
          <p:nvPr>
            <p:ph sz="half" idx="1"/>
          </p:nvPr>
        </p:nvSpPr>
        <p:spPr>
          <a:xfrm>
            <a:off x="5049062" y="942108"/>
            <a:ext cx="6455549" cy="4969114"/>
          </a:xfrm>
        </p:spPr>
        <p:txBody>
          <a:bodyPr vert="horz" lIns="91440" tIns="45720" rIns="91440" bIns="45720" rtlCol="0" anchor="ctr">
            <a:normAutofit lnSpcReduction="10000"/>
          </a:bodyPr>
          <a:lstStyle/>
          <a:p>
            <a:r>
              <a:rPr lang="en-US" dirty="0">
                <a:solidFill>
                  <a:schemeClr val="tx2">
                    <a:lumMod val="75000"/>
                  </a:schemeClr>
                </a:solidFill>
              </a:rPr>
              <a:t>The pandemic had a positive impact on the number of subscribers of Netflix as most of us (both adults and children) were limited to home isolation which led to the increase in popularity of Netflix. </a:t>
            </a:r>
          </a:p>
          <a:p>
            <a:r>
              <a:rPr lang="en-US" dirty="0">
                <a:solidFill>
                  <a:schemeClr val="tx2">
                    <a:lumMod val="75000"/>
                  </a:schemeClr>
                </a:solidFill>
              </a:rPr>
              <a:t>With increase in customer base and demand Netflix has been adding new contents exponentially after the year 2016.</a:t>
            </a:r>
          </a:p>
          <a:p>
            <a:r>
              <a:rPr lang="en-US" dirty="0">
                <a:solidFill>
                  <a:schemeClr val="tx2">
                    <a:lumMod val="75000"/>
                  </a:schemeClr>
                </a:solidFill>
              </a:rPr>
              <a:t>Out of all the contents available on the platform across various geographical location, majority of the contents are available for subscribers of USA. </a:t>
            </a:r>
          </a:p>
          <a:p>
            <a:r>
              <a:rPr lang="en-US" dirty="0">
                <a:solidFill>
                  <a:schemeClr val="tx2">
                    <a:lumMod val="75000"/>
                  </a:schemeClr>
                </a:solidFill>
              </a:rPr>
              <a:t>Most of the content added on Netflix in 2018 and 2019 are released in same year.</a:t>
            </a:r>
          </a:p>
          <a:p>
            <a:r>
              <a:rPr lang="en-US" dirty="0">
                <a:solidFill>
                  <a:schemeClr val="tx2">
                    <a:lumMod val="75000"/>
                  </a:schemeClr>
                </a:solidFill>
              </a:rPr>
              <a:t>In order to attract wide range of subscribers across various age groups, Netflix has contents in many genres. </a:t>
            </a:r>
          </a:p>
          <a:p>
            <a:r>
              <a:rPr lang="en-US" dirty="0">
                <a:solidFill>
                  <a:schemeClr val="tx2">
                    <a:lumMod val="75000"/>
                  </a:schemeClr>
                </a:solidFill>
              </a:rPr>
              <a:t>One of the most popular genres present on Netflix is ‘International movies’.</a:t>
            </a:r>
          </a:p>
        </p:txBody>
      </p:sp>
    </p:spTree>
    <p:extLst>
      <p:ext uri="{BB962C8B-B14F-4D97-AF65-F5344CB8AC3E}">
        <p14:creationId xmlns:p14="http://schemas.microsoft.com/office/powerpoint/2010/main" val="525942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0"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1"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2"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3"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4"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5"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6"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7"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8"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9"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0"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1"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3" name="Group 22">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4"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5"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6"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7"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28"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29"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0"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1"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2"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3"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4"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5"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7" name="Rectangle 36">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9"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1" name="Rectangle 40">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4639734"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3E5C13D8-8CAB-4DE0-B332-C13DC17DCD10}"/>
              </a:ext>
            </a:extLst>
          </p:cNvPr>
          <p:cNvSpPr>
            <a:spLocks noGrp="1"/>
          </p:cNvSpPr>
          <p:nvPr>
            <p:ph type="title"/>
          </p:nvPr>
        </p:nvSpPr>
        <p:spPr>
          <a:xfrm>
            <a:off x="540279" y="967417"/>
            <a:ext cx="3778870" cy="3943250"/>
          </a:xfrm>
        </p:spPr>
        <p:txBody>
          <a:bodyPr vert="horz" lIns="91440" tIns="45720" rIns="91440" bIns="45720" rtlCol="0" anchor="b">
            <a:normAutofit/>
          </a:bodyPr>
          <a:lstStyle/>
          <a:p>
            <a:r>
              <a:rPr lang="en-US" sz="4000">
                <a:solidFill>
                  <a:srgbClr val="FEFFFF"/>
                </a:solidFill>
              </a:rPr>
              <a:t>Thank you!</a:t>
            </a:r>
          </a:p>
        </p:txBody>
      </p:sp>
      <p:sp>
        <p:nvSpPr>
          <p:cNvPr id="45"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5404022"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pic>
        <p:nvPicPr>
          <p:cNvPr id="6" name="Graphic 5" descr="Handshake">
            <a:extLst>
              <a:ext uri="{FF2B5EF4-FFF2-40B4-BE49-F238E27FC236}">
                <a16:creationId xmlns:a16="http://schemas.microsoft.com/office/drawing/2014/main" id="{75C08FBE-E249-B43D-538B-4FC091B8EC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43011" y="967417"/>
            <a:ext cx="4930468" cy="4930468"/>
          </a:xfrm>
          <a:prstGeom prst="rect">
            <a:avLst/>
          </a:prstGeom>
        </p:spPr>
      </p:pic>
    </p:spTree>
    <p:extLst>
      <p:ext uri="{BB962C8B-B14F-4D97-AF65-F5344CB8AC3E}">
        <p14:creationId xmlns:p14="http://schemas.microsoft.com/office/powerpoint/2010/main" val="265339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DB58277-F8DF-46FF-84EC-EF41B835E69F}">
  <ds:schemaRefs>
    <ds:schemaRef ds:uri="http://schemas.microsoft.com/sharepoint/v3/contenttype/forms"/>
  </ds:schemaRefs>
</ds:datastoreItem>
</file>

<file path=customXml/itemProps3.xml><?xml version="1.0" encoding="utf-8"?>
<ds:datastoreItem xmlns:ds="http://schemas.openxmlformats.org/officeDocument/2006/customXml" ds:itemID="{137651BA-F45C-4845-9AB3-E0A65B39F5E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Wisp</Template>
  <TotalTime>271</TotalTime>
  <Words>1190</Words>
  <Application>Microsoft Office PowerPoint</Application>
  <PresentationFormat>Widescreen</PresentationFormat>
  <Paragraphs>92</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Century Gothic</vt:lpstr>
      <vt:lpstr>Garamond</vt:lpstr>
      <vt:lpstr>Lato</vt:lpstr>
      <vt:lpstr>Wingdings 3</vt:lpstr>
      <vt:lpstr>Wisp</vt:lpstr>
      <vt:lpstr>EDA on NETFLIX dataset</vt:lpstr>
      <vt:lpstr>Agenda</vt:lpstr>
      <vt:lpstr>Dataset</vt:lpstr>
      <vt:lpstr>Business Questions</vt:lpstr>
      <vt:lpstr>Description of Netflix Dataset </vt:lpstr>
      <vt:lpstr>Derived variables </vt:lpstr>
      <vt:lpstr>Analysis of Movies vs TV Shows </vt:lpstr>
      <vt:lpstr>Movie Ratings Analysis</vt:lpstr>
      <vt:lpstr>Popular Genres Analysis</vt:lpstr>
      <vt:lpstr>Released Year Wise Analysis</vt:lpstr>
      <vt:lpstr>Added Year Wise Analysis</vt:lpstr>
      <vt:lpstr>Added Month Wise Analysis</vt:lpstr>
      <vt:lpstr>Countries with highest rated content Analysis</vt:lpstr>
      <vt:lpstr>Mean, Mode, spread,Std Deviation</vt:lpstr>
      <vt:lpstr>PMF of Movie and TV Show</vt:lpstr>
      <vt:lpstr>CDF of Movie and TV Show</vt:lpstr>
      <vt:lpstr>Normality distribution of released_year</vt:lpstr>
      <vt:lpstr>Scatter plot of year_added vs year_released</vt:lpstr>
      <vt:lpstr>Scatter plot of year_added vs month_added</vt:lpstr>
      <vt:lpstr>Hypothesis testing of released_year</vt:lpstr>
      <vt:lpstr>Linear Regretion year_added ~ released_year</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EDA on NETFLIX dataset</dc:title>
  <dc:creator>Debasish Panda</dc:creator>
  <cp:lastModifiedBy>Debasish Panda</cp:lastModifiedBy>
  <cp:revision>26</cp:revision>
  <dcterms:created xsi:type="dcterms:W3CDTF">2021-11-17T05:14:37Z</dcterms:created>
  <dcterms:modified xsi:type="dcterms:W3CDTF">2022-06-05T04:42:10Z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